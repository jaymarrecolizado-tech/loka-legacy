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-672" y="-10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46695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drivers. Today: the four processes they will touch in LOKA Fleet — vehicle requests, OB pass slips, gas vouchers, and their trip records — then the Telegram integration so alerts reach their phones. Keep it practical: for each process, what the system does and what THEY 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expectations: nothing is removed from the rules — approvals still happen, guards still log trips — but every piece of paper becomes a tracked digital record. The five stops: four processes plus Telegram at the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Drivers get: 'You Have Been Requested as Driver', 'You Have Been Assigned as Driver', 'Trip Started', 'Trip Completed', plus cancel/edit notices. In-app is instant; email/SMS/Telegram drain from a queue every 2 minutes. Telegram is opt-in — covered in the last section.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Exact statuses: pending -&gt; pending_motorpool -&gt; approved -&gt; completed (plus rejected / revision / cancelled). Requester files with destinations, passengers, preferred driver. Approval assigns vehicle + driver and notifies everyone. Guard dispatch/arrival with odometer readings flips the trip to completed and frees the vehicle and driver instantly.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notification names exactly as the app sends them. My Trips is driver-only in the sidebar. The evaluation invites go to passengers after arrival; results appear in the driver's own reports. If the vehicle breaks down mid-trip, call motorpool — admins can adjust the record.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this live: the practice account (requester persona) is on the projector; drivers with accounts follow on their phones. Point at the Assigned Driver badge and the Completed status on the real rows. Common question: 'Requested vs Assigned' — answer with the slide 5 REMEMBER rule.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Revised flow: approvals are one-click buttons (no more e-signature canvases); the guard presses DEPART/ARRIVE with their login and a timestamp; the client confirms the Certificate of Appearance through a one-time link — a tick-box plus contact details — instead of a signature. Statuses: pending_supervisor -&gt; pending_motorpool (official only) -&gt; approved -&gt; departed -&gt; coa_received -&gt; completed. NOTE: this revised flow is on staging; live prod still shows the e-signature version until rollout.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apply form is sectioned into 4 steps: Trip details, Vehicle, Approvers, Participants. Private vehicle = no motorpool step. The CoA kiosk needs at least one contact (mobile or official email) — motorpool spot-checks a few numbers monthly, so the visit must be real. The QR opens a public verify page with the contact masked.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Bring 2-3 real (old) paper pass slips for the encode drill — it is the fastest way to make the form familiar. Do NOT submit in bulk: one live submission is enough, then walk the group through an approved slip's view page (guard times card + QR). Mention the 200-character purpose counter.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Exact statuses: draft -&gt; pending_review -&gt; pending_budget -&gt; pending_approval -&gt; approved (or rejected / cancelled). Gate 2 is new: a flagged Budget Officer must certify funds before the Chief of Admin &amp; Finance gives final approval. The requester can nominate a preferred budget officer. Payments move unpaid -&gt; paid/processed.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Vouchers are filed under the filer's own account; the driver name field is free text with suggestions from the driver roster. Only approved vouchers should be presented — the verify page shows the approval status, so an unapproved or tampered printout fails the scan.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QR scan is the wow moment — project the approved voucher (2026-09-001) and have everyone scan it; the public verify page opens without a login. Stress the three gates: nothing moves until all three are green. If asked who files: staff with gas access, including tagged drivers.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Drivers create tickets for their own completed trips (My Trips -&gt; Create ticket; admins can assist). The dashboard nags until a completed trip has its ticket. The extract counts trips with status approved or completed where you were the assigned driver, inside the date range. Ratings shown come from passenger evaluations.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Self-scoped drivers only see their own data (My Driver Report). Rankings use a Bayesian fair score so a driver with 2 ratings cannot outrank one with 40 on a lucky average — m=5 prior toward the fleet mean. Unranked drivers appear in a separate 'too few evaluations'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driver persona's real completed trips (58 available locally). Emphasize checking the odometer against the dashboard before saving — corrections later need an admin. The extract's rank score will come up; one sentence: it balances few vs many ratings fairly, raters stay anonymous.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Telegram-only: Viber was dropped (commercial paywall). Alerts are queued and delivered within ~2 minutes; sending never blocks the app. Messages are short texts with the process tag — the same tags and colors used in email: blue Vehicle, teal OB, orange Gas Voucher.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Flow: Profile -&gt; Messenger Alerts -&gt; Connect -&gt; one-time deep link https://t.me/&lt;bot&gt;?start=&lt;token&gt; (or send '/start &lt;token&gt;' to the bot). Token TTL is 30 minutes, single use. Disconnect clears the binding. Admins can set the chat ID from User Management instead. No binding = no Telegram messages, but bell + email + SMS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take-home action of the whole briefing — leave real time for it. Helper tip for the room: the link expires after 30 minutes, so click Connect only when you are ready to open Telegram. Anyone stuck can be linked by an admin instead (User Management → chat ID).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Plans #38-41 on branch plans-38-41-experimental: Repair History (#38), Rollback full stages (#39), AI assistant (#40), GPS tracking (#41). All implemented + QA'd on localhost, default OFF behind System Control flags. Today is awareness only — no training needed until each goes live. The next two slides demo the two drivers will touch: GPS tracking and the AI assistant.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 #41. Tracking window = approved + dispatched + no arrival; scope v1 is DICT fleet vehicles only (not private-vehicle OB). The ops Live Board shows exact lat/lng + an SVG trail to Motorpool/Admin/All Father only; no third-party map tiles. Pings every 45s, fixes worse than 200 m dropped; 30-day retention purge. Real browser QA: consent, ping, live board trail all verified.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 #40. OpenRouter-backed, free-model catalogue, key stored server-side. 9 tools; 8 read-only, the only write creates a pending care item an approver must still approve. Role-scoped: a driver's chat can only ever touch the driver's own records; View-as uses the effective role. Every tool call audited (ai_tool_executed). Default model qwen/qwen3.8-27b:free; ~30 prompts/user/hour app-side on top of provider limits.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Rule 2 is the big one for drivers: the guard's dispatch and arrival stamps drive everything — trip completion, vehicle release, OB slip stamps, and the trip ticket. If the guard misses a stamp, report it to motorpool immediately so the record can be corrected.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single action you want from them today: connect Telegram before leaving the room. Help desk: motorpool office / system admin.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9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960120"/>
            <a:ext cx="457200" cy="384048"/>
          </a:xfrm>
          <a:prstGeom prst="chevron">
            <a:avLst/>
          </a:prstGeom>
          <a:solidFill>
            <a:srgbClr val="3A5A74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" y="960120"/>
            <a:ext cx="457200" cy="384048"/>
          </a:xfrm>
          <a:prstGeom prst="chevron">
            <a:avLst/>
          </a:prstGeom>
          <a:solidFill>
            <a:srgbClr val="3A5A74"/>
          </a:solidFill>
          <a:ln/>
        </p:spPr>
      </p:sp>
      <p:sp>
        <p:nvSpPr>
          <p:cNvPr id="4" name="Shape 2"/>
          <p:cNvSpPr/>
          <p:nvPr/>
        </p:nvSpPr>
        <p:spPr>
          <a:xfrm>
            <a:off x="1463040" y="960120"/>
            <a:ext cx="457200" cy="384048"/>
          </a:xfrm>
          <a:prstGeom prst="chevron">
            <a:avLst/>
          </a:prstGeom>
          <a:solidFill>
            <a:srgbClr val="E8862E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60020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kern="0" spc="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LOKA FLEET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697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9FB6C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MANAGEMENT SYSTEM — DICT REGION 2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3520440"/>
            <a:ext cx="2514600" cy="475488"/>
          </a:xfrm>
          <a:prstGeom prst="roundRect">
            <a:avLst>
              <a:gd name="adj" fmla="val 50000"/>
            </a:avLst>
          </a:prstGeom>
          <a:solidFill>
            <a:srgbClr val="E8862E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3520440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DRIVERS' BRIEFING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4224528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9D7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your four daily processes work in the app — and how to get every alert on your phone.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57200" y="525780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4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Vehicle Requests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2450592" y="5367528"/>
            <a:ext cx="82296" cy="82296"/>
          </a:xfrm>
          <a:prstGeom prst="ellipse">
            <a:avLst/>
          </a:prstGeom>
          <a:solidFill>
            <a:srgbClr val="3A5A74"/>
          </a:solidFill>
          <a:ln/>
        </p:spPr>
      </p:sp>
      <p:sp>
        <p:nvSpPr>
          <p:cNvPr id="12" name="Text 10"/>
          <p:cNvSpPr/>
          <p:nvPr/>
        </p:nvSpPr>
        <p:spPr>
          <a:xfrm>
            <a:off x="2670048" y="525780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4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 Pass Slips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663440" y="5367528"/>
            <a:ext cx="82296" cy="82296"/>
          </a:xfrm>
          <a:prstGeom prst="ellipse">
            <a:avLst/>
          </a:prstGeom>
          <a:solidFill>
            <a:srgbClr val="3A5A74"/>
          </a:solidFill>
          <a:ln/>
        </p:spPr>
      </p:sp>
      <p:sp>
        <p:nvSpPr>
          <p:cNvPr id="14" name="Text 12"/>
          <p:cNvSpPr/>
          <p:nvPr/>
        </p:nvSpPr>
        <p:spPr>
          <a:xfrm>
            <a:off x="4882896" y="525780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4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Gas Vouchers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876288" y="5367528"/>
            <a:ext cx="82296" cy="82296"/>
          </a:xfrm>
          <a:prstGeom prst="ellipse">
            <a:avLst/>
          </a:prstGeom>
          <a:solidFill>
            <a:srgbClr val="3A5A74"/>
          </a:solidFill>
          <a:ln/>
        </p:spPr>
      </p:sp>
      <p:sp>
        <p:nvSpPr>
          <p:cNvPr id="16" name="Text 14"/>
          <p:cNvSpPr/>
          <p:nvPr/>
        </p:nvSpPr>
        <p:spPr>
          <a:xfrm>
            <a:off x="7095744" y="525780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4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Trip Records &amp; Extract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9089136" y="5367528"/>
            <a:ext cx="82296" cy="82296"/>
          </a:xfrm>
          <a:prstGeom prst="ellipse">
            <a:avLst/>
          </a:prstGeom>
          <a:solidFill>
            <a:srgbClr val="3A5A74"/>
          </a:solidFill>
          <a:ln/>
        </p:spPr>
      </p:sp>
      <p:sp>
        <p:nvSpPr>
          <p:cNvPr id="18" name="Text 16"/>
          <p:cNvSpPr/>
          <p:nvPr/>
        </p:nvSpPr>
        <p:spPr>
          <a:xfrm>
            <a:off x="9308592" y="525780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886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Telegram Alerts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57200" y="6263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E96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lokafleet.dictr2.cloud   ·   October 2026</a:t>
            </a:r>
            <a:endParaRPr lang="en-US" sz="1300" dirty="0"/>
          </a:p>
        </p:txBody>
      </p:sp>
    </p:spTree>
  </p:cSld>
  <p:clrMapOvr>
    <a:masterClrMapping/>
  </p:clrMapOvr>
  <p:transition spd="slow">
    <p:cover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91640" cy="329184"/>
          </a:xfrm>
          <a:prstGeom prst="roundRect">
            <a:avLst>
              <a:gd name="adj" fmla="val 50000"/>
            </a:avLst>
          </a:prstGeom>
          <a:solidFill>
            <a:srgbClr val="E886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8503"/>
            <a:ext cx="16916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spc="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TODAY'S ROUTE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B4B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Six stops, one system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57200" y="1316736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the paper you used to sign by hand is now a digital record — and after every stop, a 15-minute hands-on workshop.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600200" y="3163824"/>
            <a:ext cx="9006840" cy="0"/>
          </a:xfrm>
          <a:prstGeom prst="line">
            <a:avLst/>
          </a:prstGeom>
          <a:noFill/>
          <a:ln w="381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16736" y="2880360"/>
            <a:ext cx="566928" cy="566928"/>
          </a:xfrm>
          <a:prstGeom prst="ellipse">
            <a:avLst/>
          </a:prstGeom>
          <a:solidFill>
            <a:srgbClr val="1D6FE8"/>
          </a:solidFill>
          <a:ln/>
        </p:spPr>
      </p:sp>
      <p:sp>
        <p:nvSpPr>
          <p:cNvPr id="8" name="Text 6"/>
          <p:cNvSpPr/>
          <p:nvPr/>
        </p:nvSpPr>
        <p:spPr>
          <a:xfrm>
            <a:off x="1316736" y="28712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36576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Vehicle Request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397764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Request, approve,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dispatch, complete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118104" y="2880360"/>
            <a:ext cx="566928" cy="566928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2" name="Text 10"/>
          <p:cNvSpPr/>
          <p:nvPr/>
        </p:nvSpPr>
        <p:spPr>
          <a:xfrm>
            <a:off x="3118104" y="28712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441448" y="36576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 Pass Slip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441448" y="397764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Gate pass + Certificate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 Appearance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919472" y="2880360"/>
            <a:ext cx="566928" cy="566928"/>
          </a:xfrm>
          <a:prstGeom prst="ellipse">
            <a:avLst/>
          </a:prstGeom>
          <a:solidFill>
            <a:srgbClr val="C2410C"/>
          </a:solidFill>
          <a:ln/>
        </p:spPr>
      </p:sp>
      <p:sp>
        <p:nvSpPr>
          <p:cNvPr id="16" name="Text 14"/>
          <p:cNvSpPr/>
          <p:nvPr/>
        </p:nvSpPr>
        <p:spPr>
          <a:xfrm>
            <a:off x="4919472" y="28712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242816" y="36576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Gas Voucher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242816" y="397764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Fuel authorization with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approval gates + QR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720840" y="2880360"/>
            <a:ext cx="566928" cy="566928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20" name="Text 18"/>
          <p:cNvSpPr/>
          <p:nvPr/>
        </p:nvSpPr>
        <p:spPr>
          <a:xfrm>
            <a:off x="6720840" y="28712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044184" y="36576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Trip Records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044184" y="397764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trip ticket +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driver trip extract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522208" y="2880360"/>
            <a:ext cx="566928" cy="566928"/>
          </a:xfrm>
          <a:prstGeom prst="ellipse">
            <a:avLst/>
          </a:prstGeom>
          <a:solidFill>
            <a:srgbClr val="E8862E"/>
          </a:solidFill>
          <a:ln/>
        </p:spPr>
      </p:sp>
      <p:sp>
        <p:nvSpPr>
          <p:cNvPr id="24" name="Text 22"/>
          <p:cNvSpPr/>
          <p:nvPr/>
        </p:nvSpPr>
        <p:spPr>
          <a:xfrm>
            <a:off x="8522208" y="28712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845552" y="36576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Telegram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845552" y="397764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Alerts pushed to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phone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0323576" y="2880360"/>
            <a:ext cx="566928" cy="566928"/>
          </a:xfrm>
          <a:prstGeom prst="ellipse">
            <a:avLst/>
          </a:prstGeom>
          <a:solidFill>
            <a:srgbClr val="1B4B66"/>
          </a:solidFill>
          <a:ln/>
        </p:spPr>
      </p:sp>
      <p:sp>
        <p:nvSpPr>
          <p:cNvPr id="28" name="Text 26"/>
          <p:cNvSpPr/>
          <p:nvPr/>
        </p:nvSpPr>
        <p:spPr>
          <a:xfrm>
            <a:off x="10323576" y="28712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646920" y="36576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Experimental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9646920" y="397764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GPS tracking and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AI assistant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7200" y="521208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4B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login: </a:t>
            </a:r>
            <a:r>
              <a:rPr lang="en-US" sz="15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lokastage.dictr2.cloud — same account, same password, works on phone and computer.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45720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LOKA Fleet — Drivers' Briefing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965960" cy="329184"/>
          </a:xfrm>
          <a:prstGeom prst="roundRect">
            <a:avLst>
              <a:gd name="adj" fmla="val 50000"/>
            </a:avLst>
          </a:prstGeom>
          <a:solidFill>
            <a:srgbClr val="1B4B6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8503"/>
            <a:ext cx="19659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spc="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STAYING INFORMED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B4B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login — every alert finds you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57200" y="1316736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system notifies you at every step. Four channels, so an alert always reaches you.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420624" cy="420624"/>
          </a:xfrm>
          <a:prstGeom prst="ellipse">
            <a:avLst/>
          </a:prstGeom>
          <a:solidFill>
            <a:srgbClr val="1B4B6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9568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Bell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24128" y="1984248"/>
            <a:ext cx="5257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In-app  </a:t>
            </a: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Instant — with a badge count on your menu.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2624328"/>
            <a:ext cx="420624" cy="420624"/>
          </a:xfrm>
          <a:prstGeom prst="ellipse">
            <a:avLst/>
          </a:prstGeom>
          <a:solidFill>
            <a:srgbClr val="1B4B66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6151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@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24128" y="2642616"/>
            <a:ext cx="5257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Email  </a:t>
            </a: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Full details, threaded by control number.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3282696"/>
            <a:ext cx="420624" cy="420624"/>
          </a:xfrm>
          <a:prstGeom prst="ellipse">
            <a:avLst/>
          </a:prstGeom>
          <a:solidFill>
            <a:srgbClr val="1B4B66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2735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24128" y="3300984"/>
            <a:ext cx="5257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Text  </a:t>
            </a: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Short message to your registered mobile.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3941064"/>
            <a:ext cx="420624" cy="420624"/>
          </a:xfrm>
          <a:prstGeom prst="ellipse">
            <a:avLst/>
          </a:prstGeom>
          <a:solidFill>
            <a:srgbClr val="E8862E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931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24128" y="3959352"/>
            <a:ext cx="5257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Telegram  </a:t>
            </a: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Push to your phone — connect once (stop 5).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57200" y="4800600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4B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Alerts a driver gets:  </a:t>
            </a: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Requested as driver · Assigned as driver · Trip started · Trip completed · Changed or cancelled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1901952"/>
            <a:ext cx="5458968" cy="3459861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88900" dist="25400" dir="5400000" algn="bl" rotWithShape="0">
              <a:srgbClr val="0F172A">
                <a:alpha val="14000"/>
              </a:srgbClr>
            </a:outerShdw>
          </a:effectLst>
        </p:spPr>
      </p:sp>
      <p:pic>
        <p:nvPicPr>
          <p:cNvPr id="20" name="Image 0" descr="C:/Users/jayre/Downloads/loka_deck_build/shots/01_driver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965960"/>
            <a:ext cx="5330952" cy="3331845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6336792" y="5416677"/>
            <a:ext cx="5458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driver dashboard — trips, pending tickets and requests at a glance.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57200" y="5742432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Alerts are queued, never blocking the system — </a:t>
            </a:r>
            <a:r>
              <a:rPr lang="en-US" sz="13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expect them within about 2 minutes</a:t>
            </a:r>
            <a:r>
              <a:rPr lang="en-US" sz="13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of the event.</a:t>
            </a:r>
            <a:endParaRPr lang="en-US" sz="1350" dirty="0"/>
          </a:p>
        </p:txBody>
      </p:sp>
      <p:sp>
        <p:nvSpPr>
          <p:cNvPr id="23" name="Text 20"/>
          <p:cNvSpPr/>
          <p:nvPr/>
        </p:nvSpPr>
        <p:spPr>
          <a:xfrm>
            <a:off x="45720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LOKA Fleet — Drivers' Briefing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200" dirty="0"/>
          </a:p>
        </p:txBody>
      </p:sp>
    </p:spTree>
  </p:cSld>
  <p:clrMapOvr>
    <a:masterClrMapping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2697480" cy="329184"/>
          </a:xfrm>
          <a:prstGeom prst="roundRect">
            <a:avLst>
              <a:gd name="adj" fmla="val 50000"/>
            </a:avLst>
          </a:prstGeom>
          <a:solidFill>
            <a:srgbClr val="1D6FE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8503"/>
            <a:ext cx="26974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spc="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STOP 1 · VEHICLE REQUEST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B4B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request to completed trip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57200" y="1316736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requester files online; approvers and motorpool act in the app; the guard's stamps close the loop.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1554480" cy="713232"/>
          </a:xfrm>
          <a:prstGeom prst="roundRect">
            <a:avLst>
              <a:gd name="adj" fmla="val 12821"/>
            </a:avLst>
          </a:prstGeom>
          <a:solidFill>
            <a:srgbClr val="1D6FE8"/>
          </a:solidFill>
          <a:ln/>
          <a:effectLst>
            <a:outerShdw blurRad="88900" dist="25400" dir="5400000" algn="bl" rotWithShape="0">
              <a:srgbClr val="0F172A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993392"/>
            <a:ext cx="1444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Request filed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12064" y="2304288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FE0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submit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075688" y="2276856"/>
            <a:ext cx="246888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386584" y="1920240"/>
            <a:ext cx="1828800" cy="713232"/>
          </a:xfrm>
          <a:prstGeom prst="roundRect">
            <a:avLst>
              <a:gd name="adj" fmla="val 12821"/>
            </a:avLst>
          </a:prstGeom>
          <a:solidFill>
            <a:srgbClr val="1D6FE8"/>
          </a:solidFill>
          <a:ln/>
          <a:effectLst>
            <a:outerShdw blurRad="88900" dist="25400" dir="5400000" algn="bl" rotWithShape="0">
              <a:srgbClr val="0F172A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441448" y="1993392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Pending approval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441448" y="2304288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FE0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pending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279392" y="2276856"/>
            <a:ext cx="246888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590288" y="1920240"/>
            <a:ext cx="2286000" cy="713232"/>
          </a:xfrm>
          <a:prstGeom prst="roundRect">
            <a:avLst>
              <a:gd name="adj" fmla="val 12821"/>
            </a:avLst>
          </a:prstGeom>
          <a:solidFill>
            <a:srgbClr val="1D6FE8"/>
          </a:solidFill>
          <a:ln/>
          <a:effectLst>
            <a:outerShdw blurRad="88900" dist="25400" dir="5400000" algn="bl" rotWithShape="0">
              <a:srgbClr val="0F172A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45152" y="1993392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Motorpool review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645152" y="2304288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FE0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pending_motorpool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940296" y="2276856"/>
            <a:ext cx="246888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251192" y="1920240"/>
            <a:ext cx="1371600" cy="713232"/>
          </a:xfrm>
          <a:prstGeom prst="roundRect">
            <a:avLst>
              <a:gd name="adj" fmla="val 12821"/>
            </a:avLst>
          </a:prstGeom>
          <a:solidFill>
            <a:srgbClr val="1D6FE8"/>
          </a:solidFill>
          <a:ln/>
          <a:effectLst>
            <a:outerShdw blurRad="88900" dist="25400" dir="5400000" algn="bl" rotWithShape="0">
              <a:srgbClr val="0F172A">
                <a:alpha val="14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306056" y="19933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Approved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306056" y="2304288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FE0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approved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138160" y="2633472"/>
            <a:ext cx="0" cy="246888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1097280" y="2880360"/>
            <a:ext cx="704088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97280" y="2880360"/>
            <a:ext cx="0" cy="32004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457200" y="3200400"/>
            <a:ext cx="2011680" cy="713232"/>
          </a:xfrm>
          <a:prstGeom prst="roundRect">
            <a:avLst>
              <a:gd name="adj" fmla="val 12821"/>
            </a:avLst>
          </a:prstGeom>
          <a:solidFill>
            <a:srgbClr val="1D6FE8"/>
          </a:solidFill>
          <a:ln/>
          <a:effectLst>
            <a:outerShdw blurRad="88900" dist="25400" dir="5400000" algn="bl" rotWithShape="0">
              <a:srgbClr val="0F172A">
                <a:alpha val="14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12064" y="3273552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Requester confirms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12064" y="3584448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FE0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email · Proceed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532888" y="3557016"/>
            <a:ext cx="246888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2843784" y="3200400"/>
            <a:ext cx="2606040" cy="713232"/>
          </a:xfrm>
          <a:prstGeom prst="roundRect">
            <a:avLst>
              <a:gd name="adj" fmla="val 12821"/>
            </a:avLst>
          </a:prstGeom>
          <a:solidFill>
            <a:srgbClr val="1D6FE8"/>
          </a:solidFill>
          <a:ln/>
          <a:effectLst>
            <a:outerShdw blurRad="88900" dist="25400" dir="5400000" algn="bl" rotWithShape="0">
              <a:srgbClr val="0F172A">
                <a:alpha val="14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2898648" y="3273552"/>
            <a:ext cx="2496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Guard: dispatch + odometer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2898648" y="3584448"/>
            <a:ext cx="2496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FE0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dispatched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513832" y="3557016"/>
            <a:ext cx="246888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5824728" y="3200400"/>
            <a:ext cx="1828800" cy="713232"/>
          </a:xfrm>
          <a:prstGeom prst="roundRect">
            <a:avLst>
              <a:gd name="adj" fmla="val 12821"/>
            </a:avLst>
          </a:prstGeom>
          <a:solidFill>
            <a:srgbClr val="1D6FE8"/>
          </a:solidFill>
          <a:ln/>
          <a:effectLst>
            <a:outerShdw blurRad="88900" dist="25400" dir="5400000" algn="bl" rotWithShape="0">
              <a:srgbClr val="0F172A">
                <a:alpha val="14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879592" y="3273552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 the road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879592" y="3584448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FE0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in_use · on_trip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7717536" y="3557016"/>
            <a:ext cx="246888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8028432" y="3200400"/>
            <a:ext cx="1645920" cy="713232"/>
          </a:xfrm>
          <a:prstGeom prst="roundRect">
            <a:avLst>
              <a:gd name="adj" fmla="val 12821"/>
            </a:avLst>
          </a:prstGeom>
          <a:solidFill>
            <a:srgbClr val="1D6FE8"/>
          </a:solidFill>
          <a:ln/>
          <a:effectLst>
            <a:outerShdw blurRad="88900" dist="25400" dir="5400000" algn="bl" rotWithShape="0">
              <a:srgbClr val="0F172A">
                <a:alpha val="14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8083296" y="3273552"/>
            <a:ext cx="1536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Trip completed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8083296" y="3584448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FE0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completed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57200" y="40690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small line inside each step is the exact status the app shows. Before the trip, the requester gets a confirmation email — one click and the trip is a go.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57200" y="4617720"/>
            <a:ext cx="3694176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1" name="Text 39"/>
          <p:cNvSpPr/>
          <p:nvPr/>
        </p:nvSpPr>
        <p:spPr>
          <a:xfrm>
            <a:off x="457200" y="4754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D6F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File early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457200" y="5047488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system enforces a booking window and minimum lead time before departure.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4370832" y="4617720"/>
            <a:ext cx="3694176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4" name="Text 42"/>
          <p:cNvSpPr/>
          <p:nvPr/>
        </p:nvSpPr>
        <p:spPr>
          <a:xfrm>
            <a:off x="4370832" y="4754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D6F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Trips cap at 72 hours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4370832" y="5047488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Longer trips are split — the app rejects over-length bookings automatically.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8284464" y="4617720"/>
            <a:ext cx="3694176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7" name="Text 45"/>
          <p:cNvSpPr/>
          <p:nvPr/>
        </p:nvSpPr>
        <p:spPr>
          <a:xfrm>
            <a:off x="8284464" y="4754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D6F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Conflict-checked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8284464" y="5047488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Motorpool sees schedule clashes before assigning a vehicle and driver.</a:t>
            </a:r>
            <a:endParaRPr lang="en-US" sz="1250" dirty="0"/>
          </a:p>
        </p:txBody>
      </p:sp>
      <p:sp>
        <p:nvSpPr>
          <p:cNvPr id="49" name="Text 47"/>
          <p:cNvSpPr/>
          <p:nvPr/>
        </p:nvSpPr>
        <p:spPr>
          <a:xfrm>
            <a:off x="45720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LOKA Fleet — Drivers' Briefing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2148840" cy="329184"/>
          </a:xfrm>
          <a:prstGeom prst="roundRect">
            <a:avLst>
              <a:gd name="adj" fmla="val 50000"/>
            </a:avLst>
          </a:prstGeom>
          <a:solidFill>
            <a:srgbClr val="1D6FE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8503"/>
            <a:ext cx="21488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spc="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STOP 1 · YOUR PART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B4B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you do, step by step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57200" y="1316736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Six touchpoints — the system does the paperwork, you do the driving.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020824"/>
            <a:ext cx="329184" cy="329184"/>
          </a:xfrm>
          <a:prstGeom prst="ellipse">
            <a:avLst/>
          </a:prstGeom>
          <a:solidFill>
            <a:srgbClr val="1D6FE8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011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32688" y="2011680"/>
            <a:ext cx="5193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Assignment alert arrives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932688" y="2258568"/>
            <a:ext cx="5193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“You Have Been Assigned as Driver” — bell, email, SMS, Telegram.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615184"/>
            <a:ext cx="329184" cy="329184"/>
          </a:xfrm>
          <a:prstGeom prst="ellipse">
            <a:avLst/>
          </a:prstGeom>
          <a:solidFill>
            <a:srgbClr val="1D6FE8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6060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32688" y="2606040"/>
            <a:ext cx="5193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My Trips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932688" y="2852928"/>
            <a:ext cx="5193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schedule: trips, destinations, passengers, assigned vehicle.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3209544"/>
            <a:ext cx="329184" cy="329184"/>
          </a:xfrm>
          <a:prstGeom prst="ellipse">
            <a:avLst/>
          </a:prstGeom>
          <a:solidFill>
            <a:srgbClr val="1D6FE8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2004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32688" y="3200400"/>
            <a:ext cx="5193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Gate: dispatch stamp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932688" y="3447288"/>
            <a:ext cx="5193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Guard records dispatch + odometer. Vehicle In Use, you On Trip.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3803904"/>
            <a:ext cx="329184" cy="329184"/>
          </a:xfrm>
          <a:prstGeom prst="ellipse">
            <a:avLst/>
          </a:prstGeom>
          <a:solidFill>
            <a:srgbClr val="1D6FE8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7947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32688" y="3794760"/>
            <a:ext cx="5193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Drive the trip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932688" y="4041648"/>
            <a:ext cx="5193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Stick to the approved destination and schedule.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7200" y="4398264"/>
            <a:ext cx="329184" cy="329184"/>
          </a:xfrm>
          <a:prstGeom prst="ellipse">
            <a:avLst/>
          </a:prstGeom>
          <a:solidFill>
            <a:srgbClr val="1D6FE8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389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32688" y="4389120"/>
            <a:ext cx="5193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Gate: arrival stamp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932688" y="4636008"/>
            <a:ext cx="5193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Guard records return + odometer — trip flips to Completed.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57200" y="4992624"/>
            <a:ext cx="329184" cy="329184"/>
          </a:xfrm>
          <a:prstGeom prst="ellipse">
            <a:avLst/>
          </a:prstGeom>
          <a:solidFill>
            <a:srgbClr val="1D6FE8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49834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32688" y="4983480"/>
            <a:ext cx="5193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 rated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932688" y="5230368"/>
            <a:ext cx="5193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Riders rate you anonymously: cleanliness, behavior, appearance, safety.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336792" y="1901952"/>
            <a:ext cx="5458968" cy="3459861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88900" dist="25400" dir="5400000" algn="bl" rotWithShape="0">
              <a:srgbClr val="0F172A">
                <a:alpha val="14000"/>
              </a:srgbClr>
            </a:outerShdw>
          </a:effectLst>
        </p:spPr>
      </p:sp>
      <p:pic>
        <p:nvPicPr>
          <p:cNvPr id="31" name="Image 0" descr="C:/Users/jayre/Downloads/loka_deck_build/shots/02_my_tri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965960"/>
            <a:ext cx="5330952" cy="3331845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6336792" y="5416677"/>
            <a:ext cx="5458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My Trips — assigned trips with Create Ticket and Print actions.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0" y="5650992"/>
            <a:ext cx="12188952" cy="658368"/>
          </a:xfrm>
          <a:prstGeom prst="rect">
            <a:avLst/>
          </a:prstGeom>
          <a:solidFill>
            <a:srgbClr val="FBEEDD"/>
          </a:solidFill>
          <a:ln/>
        </p:spPr>
      </p:sp>
      <p:sp>
        <p:nvSpPr>
          <p:cNvPr id="34" name="Text 31"/>
          <p:cNvSpPr/>
          <p:nvPr/>
        </p:nvSpPr>
        <p:spPr>
          <a:xfrm>
            <a:off x="457200" y="5650992"/>
            <a:ext cx="11274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B453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REMEMBER   </a:t>
            </a:r>
            <a:r>
              <a:rPr lang="en-US" sz="13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“Requested as driver” is not a confirmed trip — wait for the ASSIGNMENT alert before preparing the vehicle.</a:t>
            </a:r>
            <a:endParaRPr lang="en-US" sz="1250" dirty="0"/>
          </a:p>
        </p:txBody>
      </p:sp>
      <p:sp>
        <p:nvSpPr>
          <p:cNvPr id="35" name="Text 32"/>
          <p:cNvSpPr/>
          <p:nvPr/>
        </p:nvSpPr>
        <p:spPr>
          <a:xfrm>
            <a:off x="45720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LOKA Fleet — Drivers' Briefing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703320" cy="329184"/>
          </a:xfrm>
          <a:prstGeom prst="roundRect">
            <a:avLst>
              <a:gd name="adj" fmla="val 50000"/>
            </a:avLst>
          </a:prstGeom>
          <a:solidFill>
            <a:srgbClr val="1D6FE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8503"/>
            <a:ext cx="37033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spc="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WORKSHOP · STOP 1 · VEHICLE REQUEST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B4B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Hands-on: read your own schedule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57200" y="1316736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 it now on the practice account — or on your own phone if you already have a login.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5669280" cy="1024128"/>
          </a:xfrm>
          <a:prstGeom prst="roundRect">
            <a:avLst>
              <a:gd name="adj" fmla="val 7143"/>
            </a:avLst>
          </a:prstGeom>
          <a:solidFill>
            <a:srgbClr val="EAF2FD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198424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1D6F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SCENARIO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76656" y="2221992"/>
            <a:ext cx="5257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Motorpool just assigned you to drive to Bayombong tomorrow, 8:00 AM. Nobody has called you yet — everything you need is in the app.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10896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TASKS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3429000"/>
            <a:ext cx="329184" cy="329184"/>
          </a:xfrm>
          <a:prstGeom prst="ellipse">
            <a:avLst/>
          </a:prstGeom>
          <a:solidFill>
            <a:srgbClr val="1D6FE8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34198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32688" y="3419856"/>
            <a:ext cx="5193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My Trips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932688" y="3666744"/>
            <a:ext cx="5193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Sidebar → My Trips → All Trips. Find the Bayombong trip.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3995928"/>
            <a:ext cx="329184" cy="329184"/>
          </a:xfrm>
          <a:prstGeom prst="ellipse">
            <a:avLst/>
          </a:prstGeom>
          <a:solidFill>
            <a:srgbClr val="1D6FE8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9867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32688" y="3986784"/>
            <a:ext cx="5193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 the trip row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932688" y="4233672"/>
            <a:ext cx="5193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Say the date, time, destination, vehicle and plate out loud.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4562856"/>
            <a:ext cx="329184" cy="329184"/>
          </a:xfrm>
          <a:prstGeom prst="ellipse">
            <a:avLst/>
          </a:prstGeom>
          <a:solidFill>
            <a:srgbClr val="1D6FE8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5537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32688" y="4553712"/>
            <a:ext cx="5193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Export your schedule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932688" y="4800600"/>
            <a:ext cx="5193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Tap Export PDF — your trips list opens ready to print.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400800" y="182880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1D6F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endParaRPr lang="en-US" sz="6000" dirty="0"/>
          </a:p>
        </p:txBody>
      </p:sp>
      <p:sp>
        <p:nvSpPr>
          <p:cNvPr id="23" name="Text 21"/>
          <p:cNvSpPr/>
          <p:nvPr/>
        </p:nvSpPr>
        <p:spPr>
          <a:xfrm>
            <a:off x="8001000" y="1993392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MINUTES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solo or in pairs · one phone or laptop per pair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400800" y="3108960"/>
            <a:ext cx="5330952" cy="2331720"/>
          </a:xfrm>
          <a:prstGeom prst="roundRect">
            <a:avLst>
              <a:gd name="adj" fmla="val 3137"/>
            </a:avLst>
          </a:prstGeom>
          <a:solidFill>
            <a:srgbClr val="EAF2FD"/>
          </a:solidFill>
          <a:ln/>
          <a:effectLst>
            <a:outerShdw blurRad="88900" dist="25400" dir="5400000" algn="bl" rotWithShape="0">
              <a:srgbClr val="0F172A">
                <a:alpha val="14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675120" y="3310128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1D6F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YOU'RE DONE WHEN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675120" y="3621024"/>
            <a:ext cx="48006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can state tomorrow's schedule — time, destination, vehicle — </a:t>
            </a:r>
            <a:r>
              <a:rPr lang="en-US" sz="14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without asking anyone.</a:t>
            </a:r>
            <a:endParaRPr lang="en-US" sz="1450" dirty="0"/>
          </a:p>
        </p:txBody>
      </p:sp>
      <p:sp>
        <p:nvSpPr>
          <p:cNvPr id="28" name="Text 25"/>
          <p:cNvSpPr/>
          <p:nvPr/>
        </p:nvSpPr>
        <p:spPr>
          <a:xfrm>
            <a:off x="45720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LOKA Fleet — Drivers' Briefing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  <p:transition spd="slow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2423160" cy="329184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8503"/>
            <a:ext cx="24231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spc="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STOP 2 · OB PASS SLIP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B4B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gate pass that follows you out the door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57200" y="1316736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Official Business outside the office: numbered slip, supervisor approval, gate stamps, and a client-confirmed Certificate of Appearance.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2286000" cy="713232"/>
          </a:xfrm>
          <a:prstGeom prst="roundRect">
            <a:avLst>
              <a:gd name="adj" fmla="val 12821"/>
            </a:avLst>
          </a:prstGeom>
          <a:solidFill>
            <a:srgbClr val="0F766E"/>
          </a:solidFill>
          <a:ln/>
          <a:effectLst>
            <a:outerShdw blurRad="88900" dist="25400" dir="5400000" algn="bl" rotWithShape="0">
              <a:srgbClr val="0F172A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2267712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Apply — 4 short sections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12064" y="2578608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FE0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pending_supervisor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807208" y="2551176"/>
            <a:ext cx="246888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118104" y="2194560"/>
            <a:ext cx="1965960" cy="713232"/>
          </a:xfrm>
          <a:prstGeom prst="roundRect">
            <a:avLst>
              <a:gd name="adj" fmla="val 12821"/>
            </a:avLst>
          </a:prstGeom>
          <a:solidFill>
            <a:srgbClr val="0F766E"/>
          </a:solidFill>
          <a:ln/>
          <a:effectLst>
            <a:outerShdw blurRad="88900" dist="25400" dir="5400000" algn="bl" rotWithShape="0">
              <a:srgbClr val="0F172A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172968" y="2267712"/>
            <a:ext cx="1856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Supervisor approves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172968" y="2578608"/>
            <a:ext cx="1856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FE0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approve button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148072" y="2551176"/>
            <a:ext cx="246888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458968" y="2194560"/>
            <a:ext cx="2240280" cy="713232"/>
          </a:xfrm>
          <a:prstGeom prst="roundRect">
            <a:avLst>
              <a:gd name="adj" fmla="val 12821"/>
            </a:avLst>
          </a:prstGeom>
          <a:solidFill>
            <a:srgbClr val="0F766E"/>
          </a:solidFill>
          <a:ln/>
          <a:effectLst>
            <a:outerShdw blurRad="88900" dist="25400" dir="5400000" algn="bl" rotWithShape="0">
              <a:srgbClr val="0F172A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513832" y="2267712"/>
            <a:ext cx="2130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Motorpool approves *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513832" y="2578608"/>
            <a:ext cx="2130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FE0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pending_motorpool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763256" y="2551176"/>
            <a:ext cx="246888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074152" y="2194560"/>
            <a:ext cx="2148840" cy="713232"/>
          </a:xfrm>
          <a:prstGeom prst="roundRect">
            <a:avLst>
              <a:gd name="adj" fmla="val 12821"/>
            </a:avLst>
          </a:prstGeom>
          <a:solidFill>
            <a:srgbClr val="0F766E"/>
          </a:solidFill>
          <a:ln/>
          <a:effectLst>
            <a:outerShdw blurRad="88900" dist="25400" dir="5400000" algn="bl" rotWithShape="0">
              <a:srgbClr val="0F172A">
                <a:alpha val="14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129016" y="2267712"/>
            <a:ext cx="2039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Guard: DEPART stamp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129016" y="2578608"/>
            <a:ext cx="2039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FE0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departed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0058400" y="2907792"/>
            <a:ext cx="0" cy="246888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1097280" y="3154680"/>
            <a:ext cx="896112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97280" y="3154680"/>
            <a:ext cx="0" cy="45720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457200" y="3611880"/>
            <a:ext cx="2148840" cy="713232"/>
          </a:xfrm>
          <a:prstGeom prst="roundRect">
            <a:avLst>
              <a:gd name="adj" fmla="val 12821"/>
            </a:avLst>
          </a:prstGeom>
          <a:solidFill>
            <a:srgbClr val="0F766E"/>
          </a:solidFill>
          <a:ln/>
          <a:effectLst>
            <a:outerShdw blurRad="88900" dist="25400" dir="5400000" algn="bl" rotWithShape="0">
              <a:srgbClr val="0F172A">
                <a:alpha val="14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12064" y="3685032"/>
            <a:ext cx="2039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Guard: ARRIVE stamp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12064" y="3995928"/>
            <a:ext cx="2039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FE0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arrival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670048" y="3968496"/>
            <a:ext cx="246888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2980944" y="3611880"/>
            <a:ext cx="2103120" cy="713232"/>
          </a:xfrm>
          <a:prstGeom prst="roundRect">
            <a:avLst>
              <a:gd name="adj" fmla="val 12821"/>
            </a:avLst>
          </a:prstGeom>
          <a:solidFill>
            <a:srgbClr val="0F766E"/>
          </a:solidFill>
          <a:ln/>
          <a:effectLst>
            <a:outerShdw blurRad="88900" dist="25400" dir="5400000" algn="bl" rotWithShape="0">
              <a:srgbClr val="0F172A">
                <a:alpha val="14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035808" y="3685032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 confirms CoA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035808" y="3995928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FE0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coa_received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148072" y="3968496"/>
            <a:ext cx="246888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5458968" y="3611880"/>
            <a:ext cx="1965960" cy="713232"/>
          </a:xfrm>
          <a:prstGeom prst="roundRect">
            <a:avLst>
              <a:gd name="adj" fmla="val 12821"/>
            </a:avLst>
          </a:prstGeom>
          <a:solidFill>
            <a:srgbClr val="0F766E"/>
          </a:solidFill>
          <a:ln/>
          <a:effectLst>
            <a:outerShdw blurRad="88900" dist="25400" dir="5400000" algn="bl" rotWithShape="0">
              <a:srgbClr val="0F172A">
                <a:alpha val="14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513832" y="3685032"/>
            <a:ext cx="1856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Requester finalizes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513832" y="3995928"/>
            <a:ext cx="1856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FE0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finalize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7488936" y="3968496"/>
            <a:ext cx="246888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7799832" y="3611880"/>
            <a:ext cx="1463040" cy="713232"/>
          </a:xfrm>
          <a:prstGeom prst="roundRect">
            <a:avLst>
              <a:gd name="adj" fmla="val 12821"/>
            </a:avLst>
          </a:prstGeom>
          <a:solidFill>
            <a:srgbClr val="0F766E"/>
          </a:solidFill>
          <a:ln/>
          <a:effectLst>
            <a:outerShdw blurRad="88900" dist="25400" dir="5400000" algn="bl" rotWithShape="0">
              <a:srgbClr val="0F172A">
                <a:alpha val="14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7854696" y="3685032"/>
            <a:ext cx="1353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Completed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854696" y="3995928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FE0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completed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57200" y="452628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* Official DICT vehicle only — a private-vehicle slip skips Motorpool and is approved right after the supervisor. Small lines = the exact status the app shows.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457200" y="5074920"/>
            <a:ext cx="557784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1" name="Text 39"/>
          <p:cNvSpPr/>
          <p:nvPr/>
        </p:nvSpPr>
        <p:spPr>
          <a:xfrm>
            <a:off x="457200" y="5193792"/>
            <a:ext cx="5577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Needs changes?  </a:t>
            </a: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Supervisor or motorpool returns it for revision — you fix and resubmit. Cancel is final.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6355080" y="5074920"/>
            <a:ext cx="557784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3" name="Text 41"/>
          <p:cNvSpPr/>
          <p:nvPr/>
        </p:nvSpPr>
        <p:spPr>
          <a:xfrm>
            <a:off x="6355080" y="5193792"/>
            <a:ext cx="5577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Bound to a trip?  </a:t>
            </a: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 the slip is tied to a vehicle request, the guard's dispatch/arrival stamps the slip automatically.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45720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LOKA Fleet — Drivers' Briefing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</a:t>
            </a:r>
            <a:endParaRPr lang="en-US" sz="1200" dirty="0"/>
          </a:p>
        </p:txBody>
      </p:sp>
    </p:spTree>
  </p:cSld>
  <p:clrMapOvr>
    <a:masterClrMapping/>
  </p:clrMapOvr>
  <p:transition spd="slow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2148840" cy="329184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8503"/>
            <a:ext cx="21488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spc="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STOP 2 · YOUR PART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B4B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Filing an OB pass slip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57200" y="1316736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form, four short sections — then the slip travels while you do.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020824"/>
            <a:ext cx="329184" cy="329184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011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32688" y="2011680"/>
            <a:ext cx="5193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Apply — Steps 1 &amp; 2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932688" y="2258568"/>
            <a:ext cx="5193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Trip details (purpose + date); vehicle: official DICT plate or private.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615184"/>
            <a:ext cx="329184" cy="329184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6060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32688" y="2606040"/>
            <a:ext cx="5193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Apply — Steps 3 &amp; 4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932688" y="2852928"/>
            <a:ext cx="5193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Pick supervisor (+ motorpool head for official); optional companions.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3209544"/>
            <a:ext cx="329184" cy="329184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2004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32688" y="3200400"/>
            <a:ext cx="5193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Print the approved slip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932688" y="3447288"/>
            <a:ext cx="5193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slip carries its own pass slip number.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3803904"/>
            <a:ext cx="329184" cy="329184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7947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32688" y="3794760"/>
            <a:ext cx="5193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Gate stamps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932688" y="4041648"/>
            <a:ext cx="5193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Guard taps DEPART / ARRIVE — your time-stamped gate record.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7200" y="4398264"/>
            <a:ext cx="329184" cy="329184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389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32688" y="4389120"/>
            <a:ext cx="5193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 confirmation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932688" y="4636008"/>
            <a:ext cx="5193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office visited ticks proof-of-service, leaves name + contact.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57200" y="4992624"/>
            <a:ext cx="329184" cy="329184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49834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32688" y="4983480"/>
            <a:ext cx="5193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Finalize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932688" y="5230368"/>
            <a:ext cx="5193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close the slip — its QR verifies it as genuine on any phone.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336792" y="1901952"/>
            <a:ext cx="5458968" cy="3459861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88900" dist="25400" dir="5400000" algn="bl" rotWithShape="0">
              <a:srgbClr val="0F172A">
                <a:alpha val="14000"/>
              </a:srgbClr>
            </a:outerShdw>
          </a:effectLst>
        </p:spPr>
      </p:sp>
      <p:pic>
        <p:nvPicPr>
          <p:cNvPr id="31" name="Image 0" descr="C:/Users/jayre/Downloads/loka_deck_build/shots/05_ob_app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965960"/>
            <a:ext cx="5330952" cy="3331845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6336792" y="5416677"/>
            <a:ext cx="5458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apply form — four guided sections, one submission.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0" y="5650992"/>
            <a:ext cx="12188952" cy="658368"/>
          </a:xfrm>
          <a:prstGeom prst="rect">
            <a:avLst/>
          </a:prstGeom>
          <a:solidFill>
            <a:srgbClr val="E6F2F0"/>
          </a:solidFill>
          <a:ln/>
        </p:spPr>
      </p:sp>
      <p:sp>
        <p:nvSpPr>
          <p:cNvPr id="34" name="Text 31"/>
          <p:cNvSpPr/>
          <p:nvPr/>
        </p:nvSpPr>
        <p:spPr>
          <a:xfrm>
            <a:off x="457200" y="5650992"/>
            <a:ext cx="11274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REMEMBER   </a:t>
            </a:r>
            <a:r>
              <a:rPr lang="en-US" sz="13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Driving for someone's OB? The slip, the stamps and the client confirmation are one connected record — no more lost paper.</a:t>
            </a:r>
            <a:endParaRPr lang="en-US" sz="1250" dirty="0"/>
          </a:p>
        </p:txBody>
      </p:sp>
      <p:sp>
        <p:nvSpPr>
          <p:cNvPr id="35" name="Text 32"/>
          <p:cNvSpPr/>
          <p:nvPr/>
        </p:nvSpPr>
        <p:spPr>
          <a:xfrm>
            <a:off x="45720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LOKA Fleet — Drivers' Briefing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</a:t>
            </a:r>
            <a:endParaRPr lang="en-US" sz="1200" dirty="0"/>
          </a:p>
        </p:txBody>
      </p:sp>
    </p:spTree>
  </p:cSld>
  <p:clrMapOvr>
    <a:masterClrMapping/>
  </p:clrMapOvr>
  <p:transition spd="slow">
    <p:cov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429000" cy="4572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69545"/>
            <a:ext cx="342900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spc="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WORKSHOP · STOP 2 · OB PASS SLIP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B4B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Hands-on: encode a paper pass slip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57200" y="1316736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 it now on the practice account — or on your own phone if you already have a login.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5669280" cy="1024128"/>
          </a:xfrm>
          <a:prstGeom prst="roundRect">
            <a:avLst>
              <a:gd name="adj" fmla="val 7143"/>
            </a:avLst>
          </a:prstGeom>
          <a:solidFill>
            <a:srgbClr val="E6F2F0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198424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SCENARIO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76656" y="2221992"/>
            <a:ext cx="5257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are handed yesterday's paper pass slip: employee J. Cruz, Santiago City Hall meeting, this Friday, official DICT vehicle, one companion.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10896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TASKS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3429000"/>
            <a:ext cx="329184" cy="329184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34198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32688" y="3419856"/>
            <a:ext cx="5193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Apply — Steps 1 &amp; 2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932688" y="3666744"/>
            <a:ext cx="5193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Encode purpose and Friday's date; pick Official DICT vehicle.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3995928"/>
            <a:ext cx="329184" cy="329184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9867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32688" y="3986784"/>
            <a:ext cx="5193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Apply — Steps 3 &amp; 4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932688" y="4233672"/>
            <a:ext cx="5193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Choose the supervisor, add the companion, check the print preview.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4562856"/>
            <a:ext cx="329184" cy="329184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5537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32688" y="4553712"/>
            <a:ext cx="5193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Trace the approvals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932688" y="4800600"/>
            <a:ext cx="5193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an approved sample slip — find the guard DEPART stamp and the QR.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400800" y="182880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endParaRPr lang="en-US" sz="6000" dirty="0"/>
          </a:p>
        </p:txBody>
      </p:sp>
      <p:sp>
        <p:nvSpPr>
          <p:cNvPr id="23" name="Text 21"/>
          <p:cNvSpPr/>
          <p:nvPr/>
        </p:nvSpPr>
        <p:spPr>
          <a:xfrm>
            <a:off x="8001000" y="1993392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MINUTES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solo or in pairs · one phone or laptop per pair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400800" y="3108960"/>
            <a:ext cx="5330952" cy="2331720"/>
          </a:xfrm>
          <a:prstGeom prst="roundRect">
            <a:avLst>
              <a:gd name="adj" fmla="val 3137"/>
            </a:avLst>
          </a:prstGeom>
          <a:solidFill>
            <a:srgbClr val="E6F2F0"/>
          </a:solidFill>
          <a:ln/>
          <a:effectLst>
            <a:outerShdw blurRad="88900" dist="25400" dir="5400000" algn="bl" rotWithShape="0">
              <a:srgbClr val="0F172A">
                <a:alpha val="14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675120" y="3310128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YOU'RE DONE WHEN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675120" y="3621024"/>
            <a:ext cx="48006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can name the 4 sections and who approves: </a:t>
            </a:r>
            <a:r>
              <a:rPr lang="en-US" sz="14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official = supervisor + motorpool, private = supervisor only.</a:t>
            </a:r>
            <a:endParaRPr lang="en-US" sz="1450" dirty="0"/>
          </a:p>
        </p:txBody>
      </p:sp>
      <p:sp>
        <p:nvSpPr>
          <p:cNvPr id="28" name="Text 25"/>
          <p:cNvSpPr/>
          <p:nvPr/>
        </p:nvSpPr>
        <p:spPr>
          <a:xfrm>
            <a:off x="45720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LOKA Fleet — Drivers' Briefing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</a:t>
            </a:r>
            <a:endParaRPr lang="en-US" sz="1200" dirty="0"/>
          </a:p>
        </p:txBody>
      </p:sp>
    </p:spTree>
  </p:cSld>
  <p:clrMapOvr>
    <a:masterClrMapping/>
  </p:clrMapOvr>
  <p:transition spd="slow">
    <p:cove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2331720" cy="329184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8503"/>
            <a:ext cx="23317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spc="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STOP 3 · GAS VOUCHER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B4B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fuel moves without three pairs of eyes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57200" y="1316736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numbered fuel authorization with three approval gates — and a QR code that proves it is real at the pump.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2103120" cy="713232"/>
          </a:xfrm>
          <a:prstGeom prst="roundRect">
            <a:avLst>
              <a:gd name="adj" fmla="val 12821"/>
            </a:avLst>
          </a:prstGeom>
          <a:solidFill>
            <a:srgbClr val="C2410C"/>
          </a:solidFill>
          <a:ln/>
          <a:effectLst>
            <a:outerShdw blurRad="88900" dist="25400" dir="5400000" algn="bl" rotWithShape="0">
              <a:srgbClr val="0F172A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2084832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File — draft or submit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12064" y="2395728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FE0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draft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624328" y="2368296"/>
            <a:ext cx="246888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935224" y="2011680"/>
            <a:ext cx="2606040" cy="713232"/>
          </a:xfrm>
          <a:prstGeom prst="roundRect">
            <a:avLst>
              <a:gd name="adj" fmla="val 12821"/>
            </a:avLst>
          </a:prstGeom>
          <a:solidFill>
            <a:srgbClr val="C2410C"/>
          </a:solidFill>
          <a:ln/>
          <a:effectLst>
            <a:outerShdw blurRad="88900" dist="25400" dir="5400000" algn="bl" rotWithShape="0">
              <a:srgbClr val="0F172A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990088" y="2084832"/>
            <a:ext cx="2496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Gate 1 · Motorpool review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990088" y="2395728"/>
            <a:ext cx="2496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FE0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pending_review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605272" y="2368296"/>
            <a:ext cx="246888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916168" y="2011680"/>
            <a:ext cx="3063240" cy="713232"/>
          </a:xfrm>
          <a:prstGeom prst="roundRect">
            <a:avLst>
              <a:gd name="adj" fmla="val 12821"/>
            </a:avLst>
          </a:prstGeom>
          <a:solidFill>
            <a:srgbClr val="C2410C"/>
          </a:solidFill>
          <a:ln/>
          <a:effectLst>
            <a:outerShdw blurRad="88900" dist="25400" dir="5400000" algn="bl" rotWithShape="0">
              <a:srgbClr val="0F172A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971032" y="2084832"/>
            <a:ext cx="2953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Gate 2 · Budget Officer certifies funds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971032" y="2395728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FE0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pending_budget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246120"/>
            <a:ext cx="3474720" cy="713232"/>
          </a:xfrm>
          <a:prstGeom prst="roundRect">
            <a:avLst>
              <a:gd name="adj" fmla="val 12821"/>
            </a:avLst>
          </a:prstGeom>
          <a:solidFill>
            <a:srgbClr val="C2410C"/>
          </a:solidFill>
          <a:ln/>
          <a:effectLst>
            <a:outerShdw blurRad="88900" dist="25400" dir="5400000" algn="bl" rotWithShape="0">
              <a:srgbClr val="0F172A">
                <a:alpha val="14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12064" y="3319272"/>
            <a:ext cx="3364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Gate 3 · Chief Admin &amp; Finance approves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12064" y="3630168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FE0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pending_approval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995928" y="3602736"/>
            <a:ext cx="246888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306824" y="3246120"/>
            <a:ext cx="2880360" cy="713232"/>
          </a:xfrm>
          <a:prstGeom prst="roundRect">
            <a:avLst>
              <a:gd name="adj" fmla="val 12821"/>
            </a:avLst>
          </a:prstGeom>
          <a:solidFill>
            <a:srgbClr val="C2410C"/>
          </a:solidFill>
          <a:ln/>
          <a:effectLst>
            <a:outerShdw blurRad="88900" dist="25400" dir="5400000" algn="bl" rotWithShape="0">
              <a:srgbClr val="0F172A">
                <a:alpha val="14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61688" y="3319272"/>
            <a:ext cx="2770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Approved — print the QR voucher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61688" y="3630168"/>
            <a:ext cx="2770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FE0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approved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321040" y="2724912"/>
            <a:ext cx="0" cy="18288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1097280" y="2907792"/>
            <a:ext cx="722376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97280" y="2907792"/>
            <a:ext cx="0" cy="338328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457200" y="4498848"/>
            <a:ext cx="2743200" cy="713232"/>
          </a:xfrm>
          <a:prstGeom prst="roundRect">
            <a:avLst>
              <a:gd name="adj" fmla="val 12821"/>
            </a:avLst>
          </a:prstGeom>
          <a:solidFill>
            <a:srgbClr val="C2410C"/>
          </a:solidFill>
          <a:ln/>
          <a:effectLst>
            <a:outerShdw blurRad="88900" dist="25400" dir="5400000" algn="bl" rotWithShape="0">
              <a:srgbClr val="0F172A">
                <a:alpha val="14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12064" y="4572000"/>
            <a:ext cx="2633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Fuel up at an accredited station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12064" y="4882896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FE0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present the voucher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264408" y="4855464"/>
            <a:ext cx="246888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3575304" y="4498848"/>
            <a:ext cx="2651760" cy="713232"/>
          </a:xfrm>
          <a:prstGeom prst="roundRect">
            <a:avLst>
              <a:gd name="adj" fmla="val 12821"/>
            </a:avLst>
          </a:prstGeom>
          <a:solidFill>
            <a:srgbClr val="C2410C"/>
          </a:solidFill>
          <a:ln/>
          <a:effectLst>
            <a:outerShdw blurRad="88900" dist="25400" dir="5400000" algn="bl" rotWithShape="0">
              <a:srgbClr val="0F172A">
                <a:alpha val="14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630168" y="4572000"/>
            <a:ext cx="254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Payment tracked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630168" y="4882896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FE0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unpaid → paid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309360" y="3959352"/>
            <a:ext cx="0" cy="201168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1097280" y="4160520"/>
            <a:ext cx="521208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97280" y="4160520"/>
            <a:ext cx="0" cy="338328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457200" y="5413248"/>
            <a:ext cx="3694176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8" name="Text 36"/>
          <p:cNvSpPr/>
          <p:nvPr/>
        </p:nvSpPr>
        <p:spPr>
          <a:xfrm>
            <a:off x="457200" y="554126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241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Any gate can reject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457200" y="583387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rejection comes back with the reason — fix it and file again.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4370832" y="5413248"/>
            <a:ext cx="3694176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1" name="Text 39"/>
          <p:cNvSpPr/>
          <p:nvPr/>
        </p:nvSpPr>
        <p:spPr>
          <a:xfrm>
            <a:off x="4370832" y="554126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241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accredited stations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4370832" y="583387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Pick from the official station list; the voucher states vehicle, fuel and liters.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8284464" y="5413248"/>
            <a:ext cx="3694176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4" name="Text 42"/>
          <p:cNvSpPr/>
          <p:nvPr/>
        </p:nvSpPr>
        <p:spPr>
          <a:xfrm>
            <a:off x="8284464" y="554126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241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Finance closes the loop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8284464" y="583387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Payment status is tracked until the station is paid — no mystery balances.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45720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LOKA Fleet — Drivers' Briefing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  <p:transition spd="slow">
    <p:cover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2148840" cy="329184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8503"/>
            <a:ext cx="21488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spc="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STOP 3 · YOUR PART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B4B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Getting fuel the digital way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57200" y="1316736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Five steps from request to a full tank.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112264"/>
            <a:ext cx="329184" cy="329184"/>
          </a:xfrm>
          <a:prstGeom prst="ellipse">
            <a:avLst/>
          </a:prstGeom>
          <a:solidFill>
            <a:srgbClr val="C2410C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103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32688" y="2103120"/>
            <a:ext cx="5193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File the voucher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932688" y="2350008"/>
            <a:ext cx="5193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Vehicle, fuel type, liters, accredited station — draft or submit.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770632"/>
            <a:ext cx="329184" cy="329184"/>
          </a:xfrm>
          <a:prstGeom prst="ellipse">
            <a:avLst/>
          </a:prstGeom>
          <a:solidFill>
            <a:srgbClr val="C2410C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7614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32688" y="2761488"/>
            <a:ext cx="5193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Track the 3 gates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932688" y="3008376"/>
            <a:ext cx="5193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Motorpool review → Budget certification → final approval.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3429000"/>
            <a:ext cx="329184" cy="329184"/>
          </a:xfrm>
          <a:prstGeom prst="ellipse">
            <a:avLst/>
          </a:prstGeom>
          <a:solidFill>
            <a:srgbClr val="C2410C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4198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32688" y="3419856"/>
            <a:ext cx="5193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Print once approved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932688" y="3666744"/>
            <a:ext cx="5193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printable voucher carries a QR code.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4087368"/>
            <a:ext cx="329184" cy="329184"/>
          </a:xfrm>
          <a:prstGeom prst="ellipse">
            <a:avLst/>
          </a:prstGeom>
          <a:solidFill>
            <a:srgbClr val="C2410C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0782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32688" y="4078224"/>
            <a:ext cx="5193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Present at the pump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932688" y="4325112"/>
            <a:ext cx="5193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Station staff scan the QR — a public page proves it is genuine.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7200" y="4745736"/>
            <a:ext cx="329184" cy="329184"/>
          </a:xfrm>
          <a:prstGeom prst="ellipse">
            <a:avLst/>
          </a:prstGeom>
          <a:solidFill>
            <a:srgbClr val="C2410C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7365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32688" y="4736592"/>
            <a:ext cx="5193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Payment status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932688" y="4983480"/>
            <a:ext cx="5193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Finance marks it paid — you see where the voucher stands.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336792" y="1901952"/>
            <a:ext cx="5458968" cy="3459861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88900" dist="25400" dir="5400000" algn="bl" rotWithShape="0">
              <a:srgbClr val="0F172A">
                <a:alpha val="14000"/>
              </a:srgbClr>
            </a:outerShdw>
          </a:effectLst>
        </p:spPr>
      </p:sp>
      <p:pic>
        <p:nvPicPr>
          <p:cNvPr id="27" name="Image 0" descr="C:/Users/jayre/Downloads/loka_deck_build/shots/06_gas_vouch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965960"/>
            <a:ext cx="5330952" cy="3331845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6336792" y="5416677"/>
            <a:ext cx="5458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approved voucher — status banner, approval workflow and articles.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0" y="5650992"/>
            <a:ext cx="12188952" cy="658368"/>
          </a:xfrm>
          <a:prstGeom prst="rect">
            <a:avLst/>
          </a:prstGeom>
          <a:solidFill>
            <a:srgbClr val="FBEEDD"/>
          </a:solidFill>
          <a:ln/>
        </p:spPr>
      </p:sp>
      <p:sp>
        <p:nvSpPr>
          <p:cNvPr id="30" name="Text 27"/>
          <p:cNvSpPr/>
          <p:nvPr/>
        </p:nvSpPr>
        <p:spPr>
          <a:xfrm>
            <a:off x="457200" y="5650992"/>
            <a:ext cx="11274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B453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REMEMBER   </a:t>
            </a:r>
            <a:r>
              <a:rPr lang="en-US" sz="13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QR code is the anti-fake check — station staff verify it on any phone, no login needed.</a:t>
            </a:r>
            <a:endParaRPr lang="en-US" sz="1250" dirty="0"/>
          </a:p>
        </p:txBody>
      </p:sp>
      <p:sp>
        <p:nvSpPr>
          <p:cNvPr id="31" name="Text 28"/>
          <p:cNvSpPr/>
          <p:nvPr/>
        </p:nvSpPr>
        <p:spPr>
          <a:xfrm>
            <a:off x="45720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LOKA Fleet — Drivers' Briefing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  <p:transition spd="slow">
    <p:cover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337560" cy="329184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8503"/>
            <a:ext cx="33375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spc="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WORKSHOP · STOP 3 · GAS VOUCHER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B4B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Hands-on: file it, then prove it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57200" y="1316736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 it now on the practice account — or on your own phone if you already have a login.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5669280" cy="1024128"/>
          </a:xfrm>
          <a:prstGeom prst="roundRect">
            <a:avLst>
              <a:gd name="adj" fmla="val 7143"/>
            </a:avLst>
          </a:prstGeom>
          <a:solidFill>
            <a:srgbClr val="F9E8DE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198424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241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SCENARIO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76656" y="2221992"/>
            <a:ext cx="5257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patrol vehicle needs 20 liters of diesel before a long trip. The station is on the accredited list.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10896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TASKS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3429000"/>
            <a:ext cx="329184" cy="329184"/>
          </a:xfrm>
          <a:prstGeom prst="ellipse">
            <a:avLst/>
          </a:prstGeom>
          <a:solidFill>
            <a:srgbClr val="C2410C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34198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32688" y="3419856"/>
            <a:ext cx="5193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File a voucher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932688" y="3666744"/>
            <a:ext cx="5193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Gas Vouchers → New. Vehicle, diesel, 20 liters, station → Save as draft.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3995928"/>
            <a:ext cx="329184" cy="329184"/>
          </a:xfrm>
          <a:prstGeom prst="ellipse">
            <a:avLst/>
          </a:prstGeom>
          <a:solidFill>
            <a:srgbClr val="C2410C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9867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32688" y="3986784"/>
            <a:ext cx="5193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Submit it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932688" y="4233672"/>
            <a:ext cx="5193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the draft → Submit. Watch the status become Pending Review.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4562856"/>
            <a:ext cx="329184" cy="329184"/>
          </a:xfrm>
          <a:prstGeom prst="ellipse">
            <a:avLst/>
          </a:prstGeom>
          <a:solidFill>
            <a:srgbClr val="C2410C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5537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32688" y="4553712"/>
            <a:ext cx="5193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Verify a real voucher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932688" y="4800600"/>
            <a:ext cx="5193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the approved sample on screen and scan its QR with your phone.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400800" y="182880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C241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endParaRPr lang="en-US" sz="6000" dirty="0"/>
          </a:p>
        </p:txBody>
      </p:sp>
      <p:sp>
        <p:nvSpPr>
          <p:cNvPr id="23" name="Text 21"/>
          <p:cNvSpPr/>
          <p:nvPr/>
        </p:nvSpPr>
        <p:spPr>
          <a:xfrm>
            <a:off x="8001000" y="1993392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MINUTES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solo or in pairs · one phone or laptop per pair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400800" y="3108960"/>
            <a:ext cx="5330952" cy="2331720"/>
          </a:xfrm>
          <a:prstGeom prst="roundRect">
            <a:avLst>
              <a:gd name="adj" fmla="val 3137"/>
            </a:avLst>
          </a:prstGeom>
          <a:solidFill>
            <a:srgbClr val="F9E8DE"/>
          </a:solidFill>
          <a:ln/>
          <a:effectLst>
            <a:outerShdw blurRad="88900" dist="25400" dir="5400000" algn="bl" rotWithShape="0">
              <a:srgbClr val="0F172A">
                <a:alpha val="14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675120" y="3310128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241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YOU'RE DONE WHEN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675120" y="3621024"/>
            <a:ext cx="48006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can explain why a pending voucher cannot fuel a trip, and what the </a:t>
            </a:r>
            <a:r>
              <a:rPr lang="en-US" sz="14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QR proves at the pump.</a:t>
            </a:r>
            <a:endParaRPr lang="en-US" sz="1450" dirty="0"/>
          </a:p>
        </p:txBody>
      </p:sp>
      <p:sp>
        <p:nvSpPr>
          <p:cNvPr id="28" name="Text 25"/>
          <p:cNvSpPr/>
          <p:nvPr/>
        </p:nvSpPr>
        <p:spPr>
          <a:xfrm>
            <a:off x="45720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LOKA Fleet — Drivers' Briefing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  <p:transition spd="slow">
    <p:cover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2423160" cy="329184"/>
          </a:xfrm>
          <a:prstGeom prst="roundRect">
            <a:avLst>
              <a:gd name="adj" fmla="val 50000"/>
            </a:avLst>
          </a:prstGeom>
          <a:solidFill>
            <a:srgbClr val="47556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8503"/>
            <a:ext cx="24231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spc="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STOP 4 · TRIP RECORDS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B4B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ticket, your numbers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57200" y="1316736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completed trip becomes an official record — and every trip you drove is extractable on demand.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810512"/>
            <a:ext cx="5440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trip ticket — one trip's official record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438912" y="2148840"/>
            <a:ext cx="5385816" cy="3414141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88900" dist="25400" dir="5400000" algn="bl" rotWithShape="0">
              <a:srgbClr val="0F172A">
                <a:alpha val="14000"/>
              </a:srgbClr>
            </a:outerShdw>
          </a:effectLst>
        </p:spPr>
      </p:sp>
      <p:pic>
        <p:nvPicPr>
          <p:cNvPr id="8" name="Image 0" descr="C:/Users/jayre/Downloads/loka_deck_build/shots/03_trip_tick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212848"/>
            <a:ext cx="5257800" cy="328612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38912" y="5617845"/>
            <a:ext cx="5385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Created from My Trips after arrival — pre-filled with times and odometer.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144768" y="1874520"/>
            <a:ext cx="0" cy="361188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46520" y="1810512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driver trip extract — all your trips</a:t>
            </a:r>
            <a:endParaRPr lang="en-US" sz="1650" dirty="0"/>
          </a:p>
        </p:txBody>
      </p:sp>
      <p:sp>
        <p:nvSpPr>
          <p:cNvPr id="12" name="Shape 9"/>
          <p:cNvSpPr/>
          <p:nvPr/>
        </p:nvSpPr>
        <p:spPr>
          <a:xfrm>
            <a:off x="6428232" y="2148840"/>
            <a:ext cx="5385816" cy="3414141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88900" dist="25400" dir="5400000" algn="bl" rotWithShape="0">
              <a:srgbClr val="0F172A">
                <a:alpha val="14000"/>
              </a:srgbClr>
            </a:outerShdw>
          </a:effectLst>
        </p:spPr>
      </p:sp>
      <p:pic>
        <p:nvPicPr>
          <p:cNvPr id="13" name="Image 1" descr="C:/Users/jayre/Downloads/loka_deck_build/shots/04_trip_extrac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2212848"/>
            <a:ext cx="5257800" cy="328612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428232" y="5617845"/>
            <a:ext cx="5385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assigned trip in a date range + your ratings — export CSV / PDF.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45720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LOKA Fleet — Drivers' Briefing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  <p:transition spd="slow">
    <p:cover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2148840" cy="329184"/>
          </a:xfrm>
          <a:prstGeom prst="roundRect">
            <a:avLst>
              <a:gd name="adj" fmla="val 50000"/>
            </a:avLst>
          </a:prstGeom>
          <a:solidFill>
            <a:srgbClr val="47556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8503"/>
            <a:ext cx="21488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spc="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STOP 4 · YOUR PART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B4B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Pulling your own trip record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57200" y="1316736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Sixty seconds, any date range, print-ready.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984248"/>
            <a:ext cx="402336" cy="402336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9751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19659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the report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1005840" y="224028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Reports, then Driver Trip Extract — as a driver you automatically see only your own trips.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55080" y="1984248"/>
            <a:ext cx="402336" cy="402336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11" name="Text 9"/>
          <p:cNvSpPr/>
          <p:nvPr/>
        </p:nvSpPr>
        <p:spPr>
          <a:xfrm>
            <a:off x="6355080" y="19751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903720" y="19659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 the range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903720" y="224028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Choose From / To dates. Filters for vehicle and control number are there too.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3191256"/>
            <a:ext cx="402336" cy="402336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1821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05840" y="317296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 the summary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1005840" y="3447288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Trip count, evaluations received, and your fair rank score for the period.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355080" y="3191256"/>
            <a:ext cx="402336" cy="402336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19" name="Text 17"/>
          <p:cNvSpPr/>
          <p:nvPr/>
        </p:nvSpPr>
        <p:spPr>
          <a:xfrm>
            <a:off x="6355080" y="31821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903720" y="317296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Scan the trips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6903720" y="3447288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row per trip: date, control no., destination, overall rating and the 4 rating categories.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57200" y="4398264"/>
            <a:ext cx="402336" cy="402336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3891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05840" y="437997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Choose columns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1005840" y="4654296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Tick what you need — plate number, invite counts, comments — the screen is the export.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355080" y="4398264"/>
            <a:ext cx="402336" cy="402336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27" name="Text 25"/>
          <p:cNvSpPr/>
          <p:nvPr/>
        </p:nvSpPr>
        <p:spPr>
          <a:xfrm>
            <a:off x="6355080" y="43891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903720" y="437997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Export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6903720" y="4654296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Download as CSV (for encoding) or PDF (for printing and filing).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0" y="5650992"/>
            <a:ext cx="12188952" cy="658368"/>
          </a:xfrm>
          <a:prstGeom prst="rect">
            <a:avLst/>
          </a:prstGeom>
          <a:solidFill>
            <a:srgbClr val="E8EDF3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5650992"/>
            <a:ext cx="11274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REMEMBER   </a:t>
            </a:r>
            <a:r>
              <a:rPr lang="en-US" sz="13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Raters stay anonymous — comments always print as “Anonymous passenger”. Trips with no ratings yet show a dash.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45720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LOKA Fleet — Drivers' Briefing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  <p:transition spd="slow">
    <p:cover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429000" cy="329184"/>
          </a:xfrm>
          <a:prstGeom prst="roundRect">
            <a:avLst>
              <a:gd name="adj" fmla="val 50000"/>
            </a:avLst>
          </a:prstGeom>
          <a:solidFill>
            <a:srgbClr val="47556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8503"/>
            <a:ext cx="34290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spc="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WORKSHOP · STOP 4 · TRIP RECORDS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B4B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Hands-on: ticket it, then extract it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57200" y="1316736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 it now on the practice account — or on your own phone if you already have a login.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5669280" cy="1024128"/>
          </a:xfrm>
          <a:prstGeom prst="roundRect">
            <a:avLst>
              <a:gd name="adj" fmla="val 7143"/>
            </a:avLst>
          </a:prstGeom>
          <a:solidFill>
            <a:srgbClr val="E8EDF3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198424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SCENARIO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76656" y="2221992"/>
            <a:ext cx="5257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have just returned from a completed trip. The office needs the record for the file — today, while details are fresh.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10896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TASKS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3429000"/>
            <a:ext cx="329184" cy="329184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34198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32688" y="3419856"/>
            <a:ext cx="5193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the ticket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932688" y="3666744"/>
            <a:ext cx="5193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My Trips → a completed trip → Create Ticket. Check times and odometer.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3995928"/>
            <a:ext cx="329184" cy="329184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9867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32688" y="3986784"/>
            <a:ext cx="5193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Save and open it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932688" y="4233672"/>
            <a:ext cx="5193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Save, then view the ticket — control no., route, passengers all pre-filled.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4562856"/>
            <a:ext cx="329184" cy="329184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5537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32688" y="4553712"/>
            <a:ext cx="5193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Pull your extract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932688" y="4800600"/>
            <a:ext cx="5193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Reports → Driver Trip Extract → set this month → Export PDF.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400800" y="182880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endParaRPr lang="en-US" sz="6000" dirty="0"/>
          </a:p>
        </p:txBody>
      </p:sp>
      <p:sp>
        <p:nvSpPr>
          <p:cNvPr id="23" name="Text 21"/>
          <p:cNvSpPr/>
          <p:nvPr/>
        </p:nvSpPr>
        <p:spPr>
          <a:xfrm>
            <a:off x="8001000" y="1993392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MINUTES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solo or in pairs · one phone or laptop per pair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400800" y="3108960"/>
            <a:ext cx="5330952" cy="2331720"/>
          </a:xfrm>
          <a:prstGeom prst="roundRect">
            <a:avLst>
              <a:gd name="adj" fmla="val 3137"/>
            </a:avLst>
          </a:prstGeom>
          <a:solidFill>
            <a:srgbClr val="E8EDF3"/>
          </a:solidFill>
          <a:ln/>
          <a:effectLst>
            <a:outerShdw blurRad="88900" dist="25400" dir="5400000" algn="bl" rotWithShape="0">
              <a:srgbClr val="0F172A">
                <a:alpha val="14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675120" y="3310128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YOU'RE DONE WHEN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675120" y="3621024"/>
            <a:ext cx="48006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created a ticket and exported your own extract — </a:t>
            </a:r>
            <a:r>
              <a:rPr lang="en-US" sz="14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logbook, no handwriting.</a:t>
            </a:r>
            <a:endParaRPr lang="en-US" sz="1450" dirty="0"/>
          </a:p>
        </p:txBody>
      </p:sp>
      <p:sp>
        <p:nvSpPr>
          <p:cNvPr id="28" name="Text 25"/>
          <p:cNvSpPr/>
          <p:nvPr/>
        </p:nvSpPr>
        <p:spPr>
          <a:xfrm>
            <a:off x="45720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LOKA Fleet — Drivers' Briefing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  <p:transition spd="slow">
    <p:cover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2057400" cy="329184"/>
          </a:xfrm>
          <a:prstGeom prst="roundRect">
            <a:avLst>
              <a:gd name="adj" fmla="val 50000"/>
            </a:avLst>
          </a:prstGeom>
          <a:solidFill>
            <a:srgbClr val="E886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8503"/>
            <a:ext cx="20574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spc="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STOP 5 · TELEGRAM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B4B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alerts, in your pocket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57200" y="1316736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LOKA Fleet can push the same alerts to the Telegram app on your phone — free, fast, and it works anywhere.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365760" cy="365760"/>
          </a:xfrm>
          <a:prstGeom prst="ellipse">
            <a:avLst/>
          </a:prstGeom>
          <a:solidFill>
            <a:srgbClr val="E8862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9568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87552" y="1965960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Never miss an assignment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87552" y="2267712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driver-assignment ping reaches you even when you are away from the office desk.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3108960"/>
            <a:ext cx="365760" cy="365760"/>
          </a:xfrm>
          <a:prstGeom prst="ellipse">
            <a:avLst/>
          </a:prstGeom>
          <a:solidFill>
            <a:srgbClr val="E8862E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30998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87552" y="3108960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Same events you already get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87552" y="3410712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alert that hits your bell and inbox can also land in Telegram — tagged per process.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4251960"/>
            <a:ext cx="365760" cy="365760"/>
          </a:xfrm>
          <a:prstGeom prst="ellipse">
            <a:avLst/>
          </a:prstGeom>
          <a:solidFill>
            <a:srgbClr val="E8862E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42428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87552" y="4251960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Private and opt-in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87552" y="4553712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you can link your account. No link, no messages — nothing is broadcast.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229600" y="1783080"/>
            <a:ext cx="3063240" cy="4160520"/>
          </a:xfrm>
          <a:prstGeom prst="roundRect">
            <a:avLst>
              <a:gd name="adj" fmla="val 8358"/>
            </a:avLst>
          </a:prstGeom>
          <a:solidFill>
            <a:srgbClr val="13293D"/>
          </a:solidFill>
          <a:ln/>
          <a:effectLst>
            <a:outerShdw blurRad="88900" dist="25400" dir="5400000" algn="bl" rotWithShape="0">
              <a:srgbClr val="0F172A">
                <a:alpha val="14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357616" y="1911096"/>
            <a:ext cx="2807208" cy="3904488"/>
          </a:xfrm>
          <a:prstGeom prst="roundRect">
            <a:avLst>
              <a:gd name="adj" fmla="val 6515"/>
            </a:avLst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9281160" y="1984248"/>
            <a:ext cx="960120" cy="128016"/>
          </a:xfrm>
          <a:prstGeom prst="roundRect">
            <a:avLst>
              <a:gd name="adj" fmla="val 50000"/>
            </a:avLst>
          </a:prstGeom>
          <a:solidFill>
            <a:srgbClr val="13293D"/>
          </a:solidFill>
          <a:ln/>
        </p:spPr>
      </p:sp>
      <p:sp>
        <p:nvSpPr>
          <p:cNvPr id="21" name="Text 19"/>
          <p:cNvSpPr/>
          <p:nvPr/>
        </p:nvSpPr>
        <p:spPr>
          <a:xfrm>
            <a:off x="8357616" y="2167128"/>
            <a:ext cx="2807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LOKA Fleet Bot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503920" y="2606040"/>
            <a:ext cx="2377440" cy="896112"/>
          </a:xfrm>
          <a:prstGeom prst="roundRect">
            <a:avLst>
              <a:gd name="adj" fmla="val 12245"/>
            </a:avLst>
          </a:prstGeom>
          <a:solidFill>
            <a:srgbClr val="F1F5F9"/>
          </a:solidFill>
          <a:ln/>
        </p:spPr>
      </p:sp>
      <p:sp>
        <p:nvSpPr>
          <p:cNvPr id="23" name="Text 21"/>
          <p:cNvSpPr/>
          <p:nvPr/>
        </p:nvSpPr>
        <p:spPr>
          <a:xfrm>
            <a:off x="8613648" y="2660904"/>
            <a:ext cx="2148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6F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[Vehicle] </a:t>
            </a: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have been assigned as Driver — Control No. 1042, Oct 5 8:00 AM, Tuguegarao to Bayombong.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503920" y="3630168"/>
            <a:ext cx="2377440" cy="896112"/>
          </a:xfrm>
          <a:prstGeom prst="roundRect">
            <a:avLst>
              <a:gd name="adj" fmla="val 12245"/>
            </a:avLst>
          </a:prstGeom>
          <a:solidFill>
            <a:srgbClr val="F1F5F9"/>
          </a:solidFill>
          <a:ln/>
        </p:spPr>
      </p:sp>
      <p:sp>
        <p:nvSpPr>
          <p:cNvPr id="25" name="Text 23"/>
          <p:cNvSpPr/>
          <p:nvPr/>
        </p:nvSpPr>
        <p:spPr>
          <a:xfrm>
            <a:off x="8613648" y="3685032"/>
            <a:ext cx="2148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[OB] </a:t>
            </a: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 Pass Slip #12 approved. Print it before your trip.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503920" y="4654296"/>
            <a:ext cx="2377440" cy="896112"/>
          </a:xfrm>
          <a:prstGeom prst="roundRect">
            <a:avLst>
              <a:gd name="adj" fmla="val 12245"/>
            </a:avLst>
          </a:prstGeom>
          <a:solidFill>
            <a:srgbClr val="F1F5F9"/>
          </a:solidFill>
          <a:ln/>
        </p:spPr>
      </p:sp>
      <p:sp>
        <p:nvSpPr>
          <p:cNvPr id="27" name="Text 25"/>
          <p:cNvSpPr/>
          <p:nvPr/>
        </p:nvSpPr>
        <p:spPr>
          <a:xfrm>
            <a:off x="8613648" y="4709160"/>
            <a:ext cx="2148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241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[Gas Voucher] </a:t>
            </a: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Voucher #9 approved — print the QR voucher.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680960" y="6053328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[tag] matches the email colors — you know the process at a glance.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LOKA Fleet — Drivers' Briefing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  <p:transition spd="slow">
    <p:cover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2606040" cy="329184"/>
          </a:xfrm>
          <a:prstGeom prst="roundRect">
            <a:avLst>
              <a:gd name="adj" fmla="val 50000"/>
            </a:avLst>
          </a:prstGeom>
          <a:solidFill>
            <a:srgbClr val="E886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8503"/>
            <a:ext cx="26060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spc="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STOP 5 · ONE-TIME SETUP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B4B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Connect Telegram in two minutes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57200" y="1316736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 this once today — every alert after that arrives on its own.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020824"/>
            <a:ext cx="329184" cy="329184"/>
          </a:xfrm>
          <a:prstGeom prst="ellipse">
            <a:avLst/>
          </a:prstGeom>
          <a:solidFill>
            <a:srgbClr val="E8862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011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32688" y="2011680"/>
            <a:ext cx="5193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Install Telegram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932688" y="2258568"/>
            <a:ext cx="5193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Free app — register with your mobile number.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615184"/>
            <a:ext cx="329184" cy="329184"/>
          </a:xfrm>
          <a:prstGeom prst="ellipse">
            <a:avLst/>
          </a:prstGeom>
          <a:solidFill>
            <a:srgbClr val="E8862E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6060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32688" y="2606040"/>
            <a:ext cx="5193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your profile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932688" y="2852928"/>
            <a:ext cx="5193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 in, click your name, Profile, Messenger Alerts.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3209544"/>
            <a:ext cx="329184" cy="329184"/>
          </a:xfrm>
          <a:prstGeom prst="ellipse">
            <a:avLst/>
          </a:prstGeom>
          <a:solidFill>
            <a:srgbClr val="E8862E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2004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32688" y="3200400"/>
            <a:ext cx="5193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Click Connect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932688" y="3447288"/>
            <a:ext cx="5193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system shows a one-time link and a short code.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3803904"/>
            <a:ext cx="329184" cy="329184"/>
          </a:xfrm>
          <a:prstGeom prst="ellipse">
            <a:avLst/>
          </a:prstGeom>
          <a:solidFill>
            <a:srgbClr val="E8862E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7947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32688" y="3794760"/>
            <a:ext cx="5193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the link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932688" y="4041648"/>
            <a:ext cx="5193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Telegram opens with the LOKA Fleet bot — press START.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7200" y="4398264"/>
            <a:ext cx="329184" cy="329184"/>
          </a:xfrm>
          <a:prstGeom prst="ellipse">
            <a:avLst/>
          </a:prstGeom>
          <a:solidFill>
            <a:srgbClr val="E8862E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389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32688" y="4389120"/>
            <a:ext cx="5193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See Connected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932688" y="4636008"/>
            <a:ext cx="5193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green Connected badge appears. You are done.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57200" y="4992624"/>
            <a:ext cx="329184" cy="329184"/>
          </a:xfrm>
          <a:prstGeom prst="ellipse">
            <a:avLst/>
          </a:prstGeom>
          <a:solidFill>
            <a:srgbClr val="E8862E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49834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32688" y="4983480"/>
            <a:ext cx="5193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Anytime: Disconnect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932688" y="5230368"/>
            <a:ext cx="5193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click in the same card — or ask an admin.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336792" y="1901952"/>
            <a:ext cx="5458968" cy="3459861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88900" dist="25400" dir="5400000" algn="bl" rotWithShape="0">
              <a:srgbClr val="0F172A">
                <a:alpha val="14000"/>
              </a:srgbClr>
            </a:outerShdw>
          </a:effectLst>
        </p:spPr>
      </p:sp>
      <p:pic>
        <p:nvPicPr>
          <p:cNvPr id="31" name="Image 0" descr="C:/Users/jayre/Downloads/loka_deck_build/shots/07_telegram_conne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965960"/>
            <a:ext cx="5330952" cy="3331845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6336792" y="5416677"/>
            <a:ext cx="5458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Profile → Messenger Alerts — the one-time link and /start code.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0" y="5650992"/>
            <a:ext cx="12188952" cy="658368"/>
          </a:xfrm>
          <a:prstGeom prst="rect">
            <a:avLst/>
          </a:prstGeom>
          <a:solidFill>
            <a:srgbClr val="FBEEDD"/>
          </a:solidFill>
          <a:ln/>
        </p:spPr>
      </p:sp>
      <p:sp>
        <p:nvSpPr>
          <p:cNvPr id="34" name="Text 31"/>
          <p:cNvSpPr/>
          <p:nvPr/>
        </p:nvSpPr>
        <p:spPr>
          <a:xfrm>
            <a:off x="457200" y="5650992"/>
            <a:ext cx="11274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B453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REMEMBER   </a:t>
            </a:r>
            <a:r>
              <a:rPr lang="en-US" sz="13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link is one-time and expires after 30 minutes — if it lapses, just click Connect again for a new one.</a:t>
            </a:r>
            <a:endParaRPr lang="en-US" sz="1250" dirty="0"/>
          </a:p>
        </p:txBody>
      </p:sp>
      <p:sp>
        <p:nvSpPr>
          <p:cNvPr id="35" name="Text 32"/>
          <p:cNvSpPr/>
          <p:nvPr/>
        </p:nvSpPr>
        <p:spPr>
          <a:xfrm>
            <a:off x="45720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LOKA Fleet — Drivers' Briefing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  <p:transition spd="slow">
    <p:cover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063240" cy="329184"/>
          </a:xfrm>
          <a:prstGeom prst="roundRect">
            <a:avLst>
              <a:gd name="adj" fmla="val 50000"/>
            </a:avLst>
          </a:prstGeom>
          <a:solidFill>
            <a:srgbClr val="E886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8503"/>
            <a:ext cx="30632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spc="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WORKSHOP · STOP 5 · TELEGRAM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B4B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Hands-on: connect before you leave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57200" y="1316736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 it now on the practice account — or on your own phone if you already have a login.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5669280" cy="1024128"/>
          </a:xfrm>
          <a:prstGeom prst="roundRect">
            <a:avLst>
              <a:gd name="adj" fmla="val 7143"/>
            </a:avLst>
          </a:prstGeom>
          <a:solidFill>
            <a:srgbClr val="FBEEDD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198424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E886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SCENARIO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76656" y="2221992"/>
            <a:ext cx="5257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next assignment could come while you are on the road. Set up the alert channel on your own phone — now, not later.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10896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TASKS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3429000"/>
            <a:ext cx="329184" cy="329184"/>
          </a:xfrm>
          <a:prstGeom prst="ellipse">
            <a:avLst/>
          </a:prstGeom>
          <a:solidFill>
            <a:srgbClr val="E8862E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34198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32688" y="3419856"/>
            <a:ext cx="5193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Install Telegram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932688" y="3666744"/>
            <a:ext cx="5193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Play Store / App Store → register with your mobile number.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3995928"/>
            <a:ext cx="329184" cy="329184"/>
          </a:xfrm>
          <a:prstGeom prst="ellipse">
            <a:avLst/>
          </a:prstGeom>
          <a:solidFill>
            <a:srgbClr val="E8862E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9867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32688" y="3986784"/>
            <a:ext cx="5193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Connect in LOKA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932688" y="4233672"/>
            <a:ext cx="5193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Profile → Messenger Alerts → Connect → open the one-time link.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4562856"/>
            <a:ext cx="329184" cy="329184"/>
          </a:xfrm>
          <a:prstGeom prst="ellipse">
            <a:avLst/>
          </a:prstGeom>
          <a:solidFill>
            <a:srgbClr val="E8862E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5537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32688" y="4553712"/>
            <a:ext cx="5193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Press START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932688" y="4800600"/>
            <a:ext cx="5193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LOKA Fleet bot replies — your profile shows Connected.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400800" y="182880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E886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endParaRPr lang="en-US" sz="6000" dirty="0"/>
          </a:p>
        </p:txBody>
      </p:sp>
      <p:sp>
        <p:nvSpPr>
          <p:cNvPr id="23" name="Text 21"/>
          <p:cNvSpPr/>
          <p:nvPr/>
        </p:nvSpPr>
        <p:spPr>
          <a:xfrm>
            <a:off x="8001000" y="1993392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MINUTES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solo or in pairs · one phone or laptop per pair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400800" y="3108960"/>
            <a:ext cx="5330952" cy="2331720"/>
          </a:xfrm>
          <a:prstGeom prst="roundRect">
            <a:avLst>
              <a:gd name="adj" fmla="val 3137"/>
            </a:avLst>
          </a:prstGeom>
          <a:solidFill>
            <a:srgbClr val="FBEEDD"/>
          </a:solidFill>
          <a:ln/>
          <a:effectLst>
            <a:outerShdw blurRad="88900" dist="25400" dir="5400000" algn="bl" rotWithShape="0">
              <a:srgbClr val="0F172A">
                <a:alpha val="14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675120" y="3310128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E886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YOU'RE DONE WHEN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675120" y="3621024"/>
            <a:ext cx="48006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profile shows a green </a:t>
            </a:r>
            <a:r>
              <a:rPr lang="en-US" sz="14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Connected</a:t>
            </a:r>
            <a:r>
              <a:rPr lang="en-US" sz="14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badge — the next assignment will ring on your phone.</a:t>
            </a:r>
            <a:endParaRPr lang="en-US" sz="1450" dirty="0"/>
          </a:p>
        </p:txBody>
      </p:sp>
      <p:sp>
        <p:nvSpPr>
          <p:cNvPr id="28" name="Text 25"/>
          <p:cNvSpPr/>
          <p:nvPr/>
        </p:nvSpPr>
        <p:spPr>
          <a:xfrm>
            <a:off x="45720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LOKA Fleet — Drivers' Briefing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</a:t>
            </a:r>
            <a:endParaRPr lang="en-US" sz="1200" dirty="0"/>
          </a:p>
        </p:txBody>
      </p:sp>
    </p:spTree>
  </p:cSld>
  <p:clrMapOvr>
    <a:masterClrMapping/>
  </p:clrMapOvr>
  <p:transition spd="slow">
    <p:cover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2423160" cy="329184"/>
          </a:xfrm>
          <a:prstGeom prst="roundRect">
            <a:avLst>
              <a:gd name="adj" fmla="val 50000"/>
            </a:avLst>
          </a:prstGeom>
          <a:solidFill>
            <a:srgbClr val="1B4B6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8503"/>
            <a:ext cx="24231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spc="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STOP 6 · EXPERIMENTAL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B4B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Fresh from the workshop: what's next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57200" y="1316736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Four new tools are built and being tested. Each ships switched OFF until the region is ready — expect them soon.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146304" cy="146304"/>
          </a:xfrm>
          <a:prstGeom prst="ellipse">
            <a:avLst/>
          </a:prstGeom>
          <a:solidFill>
            <a:srgbClr val="1D6FE8"/>
          </a:solidFill>
          <a:ln/>
        </p:spPr>
      </p:sp>
      <p:sp>
        <p:nvSpPr>
          <p:cNvPr id="7" name="Text 5"/>
          <p:cNvSpPr/>
          <p:nvPr/>
        </p:nvSpPr>
        <p:spPr>
          <a:xfrm>
            <a:off x="768096" y="19659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GPS Trip Tracking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3703320" y="1984248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/>
        </p:spPr>
      </p:sp>
      <p:sp>
        <p:nvSpPr>
          <p:cNvPr id="9" name="Text 7"/>
          <p:cNvSpPr/>
          <p:nvPr/>
        </p:nvSpPr>
        <p:spPr>
          <a:xfrm>
            <a:off x="3703320" y="198424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drivers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68096" y="2258568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See the vehicle live during a trip — from the driver's phone. Starts at the guard's dispatch, stops at arrival.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2944368"/>
            <a:ext cx="146304" cy="146304"/>
          </a:xfrm>
          <a:prstGeom prst="ellipse">
            <a:avLst/>
          </a:prstGeom>
          <a:solidFill>
            <a:srgbClr val="E8862E"/>
          </a:solidFill>
          <a:ln/>
        </p:spPr>
      </p:sp>
      <p:sp>
        <p:nvSpPr>
          <p:cNvPr id="12" name="Text 10"/>
          <p:cNvSpPr/>
          <p:nvPr/>
        </p:nvSpPr>
        <p:spPr>
          <a:xfrm>
            <a:off x="768096" y="289864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Assistant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3703320" y="2916936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/>
        </p:spPr>
      </p:sp>
      <p:sp>
        <p:nvSpPr>
          <p:cNvPr id="14" name="Text 12"/>
          <p:cNvSpPr/>
          <p:nvPr/>
        </p:nvSpPr>
        <p:spPr>
          <a:xfrm>
            <a:off x="3703320" y="291693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everyone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68096" y="3191256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Ask in plain words — “What is the status of my trip?” It shows what it is checking, then answers with a link.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3877056"/>
            <a:ext cx="146304" cy="146304"/>
          </a:xfrm>
          <a:prstGeom prst="ellipse">
            <a:avLst/>
          </a:prstGeom>
          <a:solidFill>
            <a:srgbClr val="C2410C"/>
          </a:solidFill>
          <a:ln/>
        </p:spPr>
      </p:sp>
      <p:sp>
        <p:nvSpPr>
          <p:cNvPr id="17" name="Text 15"/>
          <p:cNvSpPr/>
          <p:nvPr/>
        </p:nvSpPr>
        <p:spPr>
          <a:xfrm>
            <a:off x="768096" y="383133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Vehicle Repair History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3703320" y="3849624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/>
        </p:spPr>
      </p:sp>
      <p:sp>
        <p:nvSpPr>
          <p:cNvPr id="19" name="Text 17"/>
          <p:cNvSpPr/>
          <p:nvPr/>
        </p:nvSpPr>
        <p:spPr>
          <a:xfrm>
            <a:off x="3703320" y="384962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motorpool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68096" y="4123944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repair with parts and cost, one record per plate — searchable and printable, imported from the old Excel workbooks.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57200" y="4809744"/>
            <a:ext cx="146304" cy="146304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22" name="Text 20"/>
          <p:cNvSpPr/>
          <p:nvPr/>
        </p:nvSpPr>
        <p:spPr>
          <a:xfrm>
            <a:off x="768096" y="476402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Deeper Rollback View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3703320" y="4782312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/>
        </p:spPr>
      </p:sp>
      <p:sp>
        <p:nvSpPr>
          <p:cNvPr id="24" name="Text 22"/>
          <p:cNvSpPr/>
          <p:nvPr/>
        </p:nvSpPr>
        <p:spPr>
          <a:xfrm>
            <a:off x="3703320" y="478231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admins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68096" y="5056632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Admins can step a request back to any earlier approval stage — with the complete trail kept for audit.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669280" y="1965960"/>
            <a:ext cx="6062472" cy="3566160"/>
          </a:xfrm>
          <a:prstGeom prst="roundRect">
            <a:avLst>
              <a:gd name="adj" fmla="val 2308"/>
            </a:avLst>
          </a:prstGeom>
          <a:solidFill>
            <a:srgbClr val="F1F5F9"/>
          </a:solidFill>
          <a:ln/>
        </p:spPr>
      </p:sp>
      <p:sp>
        <p:nvSpPr>
          <p:cNvPr id="27" name="Text 25"/>
          <p:cNvSpPr/>
          <p:nvPr/>
        </p:nvSpPr>
        <p:spPr>
          <a:xfrm>
            <a:off x="5989320" y="22128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4B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“experimental”?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5989320" y="2697480"/>
            <a:ext cx="347472" cy="347472"/>
          </a:xfrm>
          <a:prstGeom prst="ellipse">
            <a:avLst/>
          </a:prstGeom>
          <a:solidFill>
            <a:srgbClr val="1B4B66"/>
          </a:solidFill>
          <a:ln/>
        </p:spPr>
      </p:sp>
      <p:sp>
        <p:nvSpPr>
          <p:cNvPr id="29" name="Text 27"/>
          <p:cNvSpPr/>
          <p:nvPr/>
        </p:nvSpPr>
        <p:spPr>
          <a:xfrm>
            <a:off x="5989320" y="26883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492240" y="26974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 by default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492240" y="297180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Nothing changes until the region switches it on in System Control.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5989320" y="3611880"/>
            <a:ext cx="347472" cy="347472"/>
          </a:xfrm>
          <a:prstGeom prst="ellipse">
            <a:avLst/>
          </a:prstGeom>
          <a:solidFill>
            <a:srgbClr val="1B4B66"/>
          </a:solidFill>
          <a:ln/>
        </p:spPr>
      </p:sp>
      <p:sp>
        <p:nvSpPr>
          <p:cNvPr id="33" name="Text 31"/>
          <p:cNvSpPr/>
          <p:nvPr/>
        </p:nvSpPr>
        <p:spPr>
          <a:xfrm>
            <a:off x="5989320" y="36027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492240" y="36118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Tested first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6492240" y="388620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Fully built and QA'd locally; staging next — production only after sign-off.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5989320" y="4526280"/>
            <a:ext cx="347472" cy="347472"/>
          </a:xfrm>
          <a:prstGeom prst="ellipse">
            <a:avLst/>
          </a:prstGeom>
          <a:solidFill>
            <a:srgbClr val="1B4B66"/>
          </a:solidFill>
          <a:ln/>
        </p:spPr>
      </p:sp>
      <p:sp>
        <p:nvSpPr>
          <p:cNvPr id="37" name="Text 35"/>
          <p:cNvSpPr/>
          <p:nvPr/>
        </p:nvSpPr>
        <p:spPr>
          <a:xfrm>
            <a:off x="5989320" y="45171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492240" y="45262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will be told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6492240" y="480060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Drivers get a heads-up (like this one) before GPS or the assistant go live.</a:t>
            </a:r>
            <a:endParaRPr lang="en-US" sz="1250" dirty="0"/>
          </a:p>
        </p:txBody>
      </p:sp>
      <p:sp>
        <p:nvSpPr>
          <p:cNvPr id="41" name="Text 38"/>
          <p:cNvSpPr/>
          <p:nvPr/>
        </p:nvSpPr>
        <p:spPr>
          <a:xfrm>
            <a:off x="45720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LOKA Fleet — Drivers' Briefing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</a:t>
            </a:r>
            <a:endParaRPr lang="en-US" sz="1200" dirty="0"/>
          </a:p>
        </p:txBody>
      </p:sp>
    </p:spTree>
  </p:cSld>
  <p:clrMapOvr>
    <a:masterClrMapping/>
  </p:clrMapOvr>
  <p:transition spd="slow">
    <p:cover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429000" cy="329184"/>
          </a:xfrm>
          <a:prstGeom prst="roundRect">
            <a:avLst>
              <a:gd name="adj" fmla="val 50000"/>
            </a:avLst>
          </a:prstGeom>
          <a:solidFill>
            <a:srgbClr val="1D6FE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8503"/>
            <a:ext cx="34290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spc="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EXPERIMENTAL · GPS TRACKING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B4B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phone becomes the trip tracker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57200" y="1316736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While you drive a dispatched DICT vehicle, motorpool can see where you are — no extra device, no app store.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020824"/>
            <a:ext cx="329184" cy="329184"/>
          </a:xfrm>
          <a:prstGeom prst="ellipse">
            <a:avLst/>
          </a:prstGeom>
          <a:solidFill>
            <a:srgbClr val="1D6FE8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011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32688" y="2011680"/>
            <a:ext cx="5193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Starts and stops by itself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932688" y="2258568"/>
            <a:ext cx="5193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Guard DISPATCH starts sharing; ARRIVAL stops it. No buttons for you.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615184"/>
            <a:ext cx="329184" cy="329184"/>
          </a:xfrm>
          <a:prstGeom prst="ellipse">
            <a:avLst/>
          </a:prstGeom>
          <a:solidFill>
            <a:srgbClr val="1D6FE8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6060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32688" y="2606040"/>
            <a:ext cx="5193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One-time consent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932688" y="2852928"/>
            <a:ext cx="5193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First trip: tick “I agree to share my location” — it is always your choice.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3209544"/>
            <a:ext cx="329184" cy="329184"/>
          </a:xfrm>
          <a:prstGeom prst="ellipse">
            <a:avLst/>
          </a:prstGeom>
          <a:solidFill>
            <a:srgbClr val="1D6FE8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2004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32688" y="3200400"/>
            <a:ext cx="5193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Keep the page open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932688" y="3447288"/>
            <a:ext cx="5193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it to your home screen. A locked phone pauses sharing — trail just stops.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3803904"/>
            <a:ext cx="329184" cy="329184"/>
          </a:xfrm>
          <a:prstGeom prst="ellipse">
            <a:avLst/>
          </a:prstGeom>
          <a:solidFill>
            <a:srgbClr val="1D6FE8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7947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32688" y="3794760"/>
            <a:ext cx="5193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Gentle on battery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932688" y="4041648"/>
            <a:ext cx="5193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location ping about every 45 seconds while you move; weak fixes are dropped.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7200" y="4398264"/>
            <a:ext cx="329184" cy="329184"/>
          </a:xfrm>
          <a:prstGeom prst="ellipse">
            <a:avLst/>
          </a:prstGeom>
          <a:solidFill>
            <a:srgbClr val="1D6FE8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389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32688" y="4389120"/>
            <a:ext cx="5193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Private by design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932688" y="4636008"/>
            <a:ext cx="5193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Motorpool, Admin and All Father ever see it — never the requester or approver.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57200" y="4992624"/>
            <a:ext cx="329184" cy="329184"/>
          </a:xfrm>
          <a:prstGeom prst="ellipse">
            <a:avLst/>
          </a:prstGeom>
          <a:solidFill>
            <a:srgbClr val="1D6FE8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49834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32688" y="4983480"/>
            <a:ext cx="5193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Nothing kept forever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932688" y="5230368"/>
            <a:ext cx="5193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Points auto-delete after 30 days.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336792" y="1901952"/>
            <a:ext cx="5458968" cy="3459861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88900" dist="25400" dir="5400000" algn="bl" rotWithShape="0">
              <a:srgbClr val="0F172A">
                <a:alpha val="14000"/>
              </a:srgbClr>
            </a:outerShdw>
          </a:effectLst>
        </p:spPr>
      </p:sp>
      <p:pic>
        <p:nvPicPr>
          <p:cNvPr id="31" name="Image 0" descr="C:/Users/jayre/Downloads/loka_deck_build/shots/09_gps_cons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965960"/>
            <a:ext cx="5330952" cy="3331845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6336792" y="5416677"/>
            <a:ext cx="5458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driver's Trip Tracking page — trip, vehicle and the consent box.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0" y="5650992"/>
            <a:ext cx="12188952" cy="658368"/>
          </a:xfrm>
          <a:prstGeom prst="rect">
            <a:avLst/>
          </a:prstGeom>
          <a:solidFill>
            <a:srgbClr val="FBEEDD"/>
          </a:solidFill>
          <a:ln/>
        </p:spPr>
      </p:sp>
      <p:sp>
        <p:nvSpPr>
          <p:cNvPr id="34" name="Text 31"/>
          <p:cNvSpPr/>
          <p:nvPr/>
        </p:nvSpPr>
        <p:spPr>
          <a:xfrm>
            <a:off x="457200" y="5650992"/>
            <a:ext cx="11274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B453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REMEMBER   </a:t>
            </a:r>
            <a:r>
              <a:rPr lang="en-US" sz="13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Experimental and off right now — when the region switches it on, you will get the same walkthrough live.</a:t>
            </a:r>
            <a:endParaRPr lang="en-US" sz="1250" dirty="0"/>
          </a:p>
        </p:txBody>
      </p:sp>
      <p:sp>
        <p:nvSpPr>
          <p:cNvPr id="35" name="Text 32"/>
          <p:cNvSpPr/>
          <p:nvPr/>
        </p:nvSpPr>
        <p:spPr>
          <a:xfrm>
            <a:off x="45720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LOKA Fleet — Drivers' Briefing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</a:t>
            </a:r>
            <a:endParaRPr lang="en-US" sz="1200" dirty="0"/>
          </a:p>
        </p:txBody>
      </p:sp>
    </p:spTree>
  </p:cSld>
  <p:clrMapOvr>
    <a:masterClrMapping/>
  </p:clrMapOvr>
  <p:transition spd="slow">
    <p:cover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291840" cy="329184"/>
          </a:xfrm>
          <a:prstGeom prst="roundRect">
            <a:avLst>
              <a:gd name="adj" fmla="val 50000"/>
            </a:avLst>
          </a:prstGeom>
          <a:solidFill>
            <a:srgbClr val="E886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8503"/>
            <a:ext cx="32918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spc="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EXPERIMENTAL · AI ASSISTANT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B4B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Ask the fleet assistant in plain words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57200" y="1316736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chat bubble on every page — ask about your trips, pass slips, vouchers or approvals instead of digging through menus.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020824"/>
            <a:ext cx="329184" cy="329184"/>
          </a:xfrm>
          <a:prstGeom prst="ellipse">
            <a:avLst/>
          </a:prstGeom>
          <a:solidFill>
            <a:srgbClr val="E8862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011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32688" y="2011680"/>
            <a:ext cx="5193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Just ask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932688" y="2258568"/>
            <a:ext cx="5193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“What is the status of my current trip?” — it understands and looks it up.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679192"/>
            <a:ext cx="329184" cy="329184"/>
          </a:xfrm>
          <a:prstGeom prst="ellipse">
            <a:avLst/>
          </a:prstGeom>
          <a:solidFill>
            <a:srgbClr val="E8862E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670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32688" y="2670048"/>
            <a:ext cx="5193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shows its work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932688" y="2916936"/>
            <a:ext cx="5193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lookup appears as a trace line (“Searching your trip requests…”) before the answer.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3337560"/>
            <a:ext cx="329184" cy="329184"/>
          </a:xfrm>
          <a:prstGeom prst="ellipse">
            <a:avLst/>
          </a:prstGeom>
          <a:solidFill>
            <a:srgbClr val="E8862E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3284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32688" y="3328416"/>
            <a:ext cx="5193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Answer + deep link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932688" y="3575304"/>
            <a:ext cx="5193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Results come with an “Open in LOKA” button straight to the record.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3995928"/>
            <a:ext cx="329184" cy="329184"/>
          </a:xfrm>
          <a:prstGeom prst="ellipse">
            <a:avLst/>
          </a:prstGeom>
          <a:solidFill>
            <a:srgbClr val="E8862E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9867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32688" y="3986784"/>
            <a:ext cx="5193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cannot click buttons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932688" y="4233672"/>
            <a:ext cx="5193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Approvals stay human — the assistant at most opens the right screen for you.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7200" y="4654296"/>
            <a:ext cx="329184" cy="329184"/>
          </a:xfrm>
          <a:prstGeom prst="ellipse">
            <a:avLst/>
          </a:prstGeom>
          <a:solidFill>
            <a:srgbClr val="E8862E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6451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32688" y="4645152"/>
            <a:ext cx="5193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Safe by default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932688" y="4892040"/>
            <a:ext cx="5193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Writes ask for Confirm first; rate-limited per user; fully logged in the audit trail.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336792" y="1901952"/>
            <a:ext cx="5458968" cy="3459861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88900" dist="25400" dir="5400000" algn="bl" rotWithShape="0">
              <a:srgbClr val="0F172A">
                <a:alpha val="14000"/>
              </a:srgbClr>
            </a:outerShdw>
          </a:effectLst>
        </p:spPr>
      </p:sp>
      <p:pic>
        <p:nvPicPr>
          <p:cNvPr id="27" name="Image 0" descr="C:/Users/jayre/Downloads/loka_deck_build/shots/11_ai_ch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965960"/>
            <a:ext cx="5330952" cy="3331845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6336792" y="5416677"/>
            <a:ext cx="5458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 session — the trace line shows the lookup, then “Open in LOKA”.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0" y="5650992"/>
            <a:ext cx="12188952" cy="658368"/>
          </a:xfrm>
          <a:prstGeom prst="rect">
            <a:avLst/>
          </a:prstGeom>
          <a:solidFill>
            <a:srgbClr val="FBEEDD"/>
          </a:solidFill>
          <a:ln/>
        </p:spPr>
      </p:sp>
      <p:sp>
        <p:nvSpPr>
          <p:cNvPr id="30" name="Text 27"/>
          <p:cNvSpPr/>
          <p:nvPr/>
        </p:nvSpPr>
        <p:spPr>
          <a:xfrm>
            <a:off x="457200" y="5650992"/>
            <a:ext cx="11274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B453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REMEMBER   </a:t>
            </a:r>
            <a:r>
              <a:rPr lang="en-US" sz="13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Experimental and off right now — switched on per region once the free AI model pool is proven reliable.</a:t>
            </a:r>
            <a:endParaRPr lang="en-US" sz="1250" dirty="0"/>
          </a:p>
        </p:txBody>
      </p:sp>
      <p:sp>
        <p:nvSpPr>
          <p:cNvPr id="31" name="Text 28"/>
          <p:cNvSpPr/>
          <p:nvPr/>
        </p:nvSpPr>
        <p:spPr>
          <a:xfrm>
            <a:off x="45720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LOKA Fleet — Drivers' Briefing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21</a:t>
            </a:r>
            <a:endParaRPr lang="en-US" sz="1200" dirty="0"/>
          </a:p>
        </p:txBody>
      </p:sp>
    </p:spTree>
  </p:cSld>
  <p:clrMapOvr>
    <a:masterClrMapping/>
  </p:clrMapOvr>
  <p:transition spd="slow">
    <p:cover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91640" cy="329184"/>
          </a:xfrm>
          <a:prstGeom prst="roundRect">
            <a:avLst>
              <a:gd name="adj" fmla="val 50000"/>
            </a:avLst>
          </a:prstGeom>
          <a:solidFill>
            <a:srgbClr val="1B4B6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8503"/>
            <a:ext cx="16916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spc="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BEFORE YOU GO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B4B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Six golden rules in LOKA Fleet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57200" y="1316736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Small habits that keep your records clean and your trips smooth.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938528"/>
            <a:ext cx="365760" cy="365760"/>
          </a:xfrm>
          <a:prstGeom prst="ellipse">
            <a:avLst/>
          </a:prstGeom>
          <a:solidFill>
            <a:srgbClr val="1B4B6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9293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9264" y="192024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File early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969264" y="2212848"/>
            <a:ext cx="5074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Requests and pass slips need lead time — the booking window is enforced automatically.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55080" y="1938528"/>
            <a:ext cx="365760" cy="365760"/>
          </a:xfrm>
          <a:prstGeom prst="ellipse">
            <a:avLst/>
          </a:prstGeom>
          <a:solidFill>
            <a:srgbClr val="1B4B66"/>
          </a:solidFill>
          <a:ln/>
        </p:spPr>
      </p:sp>
      <p:sp>
        <p:nvSpPr>
          <p:cNvPr id="11" name="Text 9"/>
          <p:cNvSpPr/>
          <p:nvPr/>
        </p:nvSpPr>
        <p:spPr>
          <a:xfrm>
            <a:off x="6355080" y="19293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67144" y="192024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Mind the gate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867144" y="2212848"/>
            <a:ext cx="5074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Departure and arrival stamps make the official record — no stamp, no completed trip.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3236976"/>
            <a:ext cx="365760" cy="365760"/>
          </a:xfrm>
          <a:prstGeom prst="ellipse">
            <a:avLst/>
          </a:prstGeom>
          <a:solidFill>
            <a:srgbClr val="1B4B66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2278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69264" y="3218688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Odometer honest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969264" y="3511296"/>
            <a:ext cx="5074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Readings are checked against vehicle history — log the real numbers.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355080" y="3236976"/>
            <a:ext cx="365760" cy="365760"/>
          </a:xfrm>
          <a:prstGeom prst="ellipse">
            <a:avLst/>
          </a:prstGeom>
          <a:solidFill>
            <a:srgbClr val="1B4B66"/>
          </a:solidFill>
          <a:ln/>
        </p:spPr>
      </p:sp>
      <p:sp>
        <p:nvSpPr>
          <p:cNvPr id="19" name="Text 17"/>
          <p:cNvSpPr/>
          <p:nvPr/>
        </p:nvSpPr>
        <p:spPr>
          <a:xfrm>
            <a:off x="6355080" y="32278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867144" y="3218688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Ticket right away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6867144" y="3511296"/>
            <a:ext cx="5074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the trip ticket as soon as the trip is completed, while details are fresh.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57200" y="4535424"/>
            <a:ext cx="365760" cy="365760"/>
          </a:xfrm>
          <a:prstGeom prst="ellipse">
            <a:avLst/>
          </a:prstGeom>
          <a:solidFill>
            <a:srgbClr val="1B4B66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526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69264" y="4517136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login = your name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969264" y="4809744"/>
            <a:ext cx="5074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approval, stamp and ticket is logged under your account. Never share it.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355080" y="4535424"/>
            <a:ext cx="365760" cy="365760"/>
          </a:xfrm>
          <a:prstGeom prst="ellipse">
            <a:avLst/>
          </a:prstGeom>
          <a:solidFill>
            <a:srgbClr val="1B4B66"/>
          </a:solidFill>
          <a:ln/>
        </p:spPr>
      </p:sp>
      <p:sp>
        <p:nvSpPr>
          <p:cNvPr id="27" name="Text 25"/>
          <p:cNvSpPr/>
          <p:nvPr/>
        </p:nvSpPr>
        <p:spPr>
          <a:xfrm>
            <a:off x="6355080" y="4526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867144" y="4517136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Connect Telegram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6867144" y="4809744"/>
            <a:ext cx="5074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One-time setup so the next assignment finds you on your phone, not on a bulletin board.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45720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LOKA Fleet — Drivers' Briefing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22</a:t>
            </a:r>
            <a:endParaRPr lang="en-US" sz="1200" dirty="0"/>
          </a:p>
        </p:txBody>
      </p:sp>
    </p:spTree>
  </p:cSld>
  <p:clrMapOvr>
    <a:masterClrMapping/>
  </p:clrMapOvr>
  <p:transition spd="slow">
    <p:cover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329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0"/>
            <a:ext cx="457200" cy="384048"/>
          </a:xfrm>
          <a:prstGeom prst="chevron">
            <a:avLst/>
          </a:prstGeom>
          <a:solidFill>
            <a:srgbClr val="3A5A74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" y="1371600"/>
            <a:ext cx="457200" cy="384048"/>
          </a:xfrm>
          <a:prstGeom prst="chevron">
            <a:avLst/>
          </a:prstGeom>
          <a:solidFill>
            <a:srgbClr val="3A5A74"/>
          </a:solidFill>
          <a:ln/>
        </p:spPr>
      </p:sp>
      <p:sp>
        <p:nvSpPr>
          <p:cNvPr id="4" name="Shape 2"/>
          <p:cNvSpPr/>
          <p:nvPr/>
        </p:nvSpPr>
        <p:spPr>
          <a:xfrm>
            <a:off x="1463040" y="1371600"/>
            <a:ext cx="457200" cy="384048"/>
          </a:xfrm>
          <a:prstGeom prst="chevron">
            <a:avLst/>
          </a:prstGeom>
          <a:solidFill>
            <a:srgbClr val="E8862E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0116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you!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457200" y="30632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9D7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Questions? Anything unclear on any of the five stops — ask now, or find us at the motorpool office.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" y="4160520"/>
            <a:ext cx="3657600" cy="18288"/>
          </a:xfrm>
          <a:prstGeom prst="rect">
            <a:avLst/>
          </a:prstGeom>
          <a:solidFill>
            <a:srgbClr val="3A5A74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3159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E886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Connect Telegram today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457200" y="4645152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D7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Profile, Messenger Alerts, Connect — two minutes.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70832" y="4160520"/>
            <a:ext cx="3657600" cy="18288"/>
          </a:xfrm>
          <a:prstGeom prst="rect">
            <a:avLst/>
          </a:prstGeom>
          <a:solidFill>
            <a:srgbClr val="3A5A74"/>
          </a:solidFill>
          <a:ln/>
        </p:spPr>
      </p:sp>
      <p:sp>
        <p:nvSpPr>
          <p:cNvPr id="11" name="Text 9"/>
          <p:cNvSpPr/>
          <p:nvPr/>
        </p:nvSpPr>
        <p:spPr>
          <a:xfrm>
            <a:off x="4370832" y="43159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E886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Bookmark the site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4370832" y="4645152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D7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lokafleet.dictr2.cloud — works on your phone browser.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84464" y="4160520"/>
            <a:ext cx="3657600" cy="18288"/>
          </a:xfrm>
          <a:prstGeom prst="rect">
            <a:avLst/>
          </a:prstGeom>
          <a:solidFill>
            <a:srgbClr val="3A5A74"/>
          </a:solidFill>
          <a:ln/>
        </p:spPr>
      </p:sp>
      <p:sp>
        <p:nvSpPr>
          <p:cNvPr id="14" name="Text 12"/>
          <p:cNvSpPr/>
          <p:nvPr/>
        </p:nvSpPr>
        <p:spPr>
          <a:xfrm>
            <a:off x="8284464" y="43159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E886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Ask for help early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284464" y="4645152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D7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Motorpool office or the System Admin can walk you through any step.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263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E96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LOKA Fleet Management System · DICT Region 2</a:t>
            </a:r>
            <a:endParaRPr lang="en-US" sz="1300" dirty="0"/>
          </a:p>
        </p:txBody>
      </p:sp>
    </p:spTree>
  </p:cSld>
  <p:clrMapOvr>
    <a:masterClrMapping/>
  </p:clrMapOvr>
  <p:transition spd="slow">
    <p:cover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417</TotalTime>
  <Words>4822</Words>
  <Application>Microsoft Office PowerPoint</Application>
  <PresentationFormat>Widescreen</PresentationFormat>
  <Paragraphs>544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LOKA Fleet — Drivers' Briefing</dc:title>
  <dc:subject>PptxGenJS Presentation</dc:subject>
  <dc:creator>LOKA Fleet</dc:creator>
  <cp:lastModifiedBy>Jaymar Recolizado</cp:lastModifiedBy>
  <cp:revision>2</cp:revision>
  <dcterms:created xsi:type="dcterms:W3CDTF">2026-10-04T14:42:19Z</dcterms:created>
  <dcterms:modified xsi:type="dcterms:W3CDTF">2026-10-05T08:41:02Z</dcterms:modified>
</cp:coreProperties>
</file>